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notesMasterIdLst>
    <p:notesMasterId r:id="rId46"/>
  </p:notesMasterIdLst>
  <p:sldIdLst>
    <p:sldId id="256" r:id="rId5"/>
    <p:sldId id="270" r:id="rId6"/>
    <p:sldId id="257" r:id="rId7"/>
    <p:sldId id="299" r:id="rId8"/>
    <p:sldId id="319" r:id="rId9"/>
    <p:sldId id="321" r:id="rId10"/>
    <p:sldId id="284" r:id="rId11"/>
    <p:sldId id="274" r:id="rId12"/>
    <p:sldId id="272" r:id="rId13"/>
    <p:sldId id="302" r:id="rId14"/>
    <p:sldId id="273" r:id="rId15"/>
    <p:sldId id="307" r:id="rId16"/>
    <p:sldId id="317" r:id="rId17"/>
    <p:sldId id="304" r:id="rId18"/>
    <p:sldId id="303" r:id="rId19"/>
    <p:sldId id="283" r:id="rId20"/>
    <p:sldId id="298" r:id="rId21"/>
    <p:sldId id="318" r:id="rId22"/>
    <p:sldId id="297" r:id="rId23"/>
    <p:sldId id="305" r:id="rId24"/>
    <p:sldId id="306" r:id="rId25"/>
    <p:sldId id="308" r:id="rId26"/>
    <p:sldId id="286" r:id="rId27"/>
    <p:sldId id="287" r:id="rId28"/>
    <p:sldId id="288" r:id="rId29"/>
    <p:sldId id="312" r:id="rId30"/>
    <p:sldId id="314" r:id="rId31"/>
    <p:sldId id="289" r:id="rId32"/>
    <p:sldId id="292" r:id="rId33"/>
    <p:sldId id="300" r:id="rId34"/>
    <p:sldId id="290" r:id="rId35"/>
    <p:sldId id="295" r:id="rId36"/>
    <p:sldId id="294" r:id="rId37"/>
    <p:sldId id="315" r:id="rId38"/>
    <p:sldId id="313" r:id="rId39"/>
    <p:sldId id="296" r:id="rId40"/>
    <p:sldId id="309" r:id="rId41"/>
    <p:sldId id="310" r:id="rId42"/>
    <p:sldId id="316" r:id="rId43"/>
    <p:sldId id="311" r:id="rId44"/>
    <p:sldId id="32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09" autoAdjust="0"/>
    <p:restoredTop sz="85679" autoAdjust="0"/>
  </p:normalViewPr>
  <p:slideViewPr>
    <p:cSldViewPr snapToGrid="0">
      <p:cViewPr varScale="1">
        <p:scale>
          <a:sx n="75" d="100"/>
          <a:sy n="75" d="100"/>
        </p:scale>
        <p:origin x="78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33A4BE-B4A6-4347-BAA9-A9174CA50070}" type="doc">
      <dgm:prSet loTypeId="urn:microsoft.com/office/officeart/2008/layout/LinedList" loCatId="list" qsTypeId="urn:microsoft.com/office/officeart/2005/8/quickstyle/simple1#1" qsCatId="simple" csTypeId="urn:microsoft.com/office/officeart/2005/8/colors/colorful2#1" csCatId="colorful" phldr="1"/>
      <dgm:spPr/>
      <dgm:t>
        <a:bodyPr/>
        <a:lstStyle/>
        <a:p>
          <a:endParaRPr lang="en-US"/>
        </a:p>
      </dgm:t>
    </dgm:pt>
    <dgm:pt modelId="{968EAD7F-398E-4328-B29D-32216E6437DF}">
      <dgm:prSet/>
      <dgm:spPr/>
      <dgm:t>
        <a:bodyPr/>
        <a:lstStyle/>
        <a:p>
          <a:r>
            <a:rPr lang="en-US" dirty="0">
              <a:solidFill>
                <a:schemeClr val="accent1"/>
              </a:solidFill>
              <a:latin typeface="Amasis MT Pro Medium" panose="02040604050005020304" pitchFamily="18" charset="0"/>
            </a:rPr>
            <a:t>DUCTING TAKEOFF TO INCLUDE:</a:t>
          </a:r>
        </a:p>
      </dgm:t>
    </dgm:pt>
    <dgm:pt modelId="{62305764-9564-458F-B812-3FB4AB94A81F}" type="parTrans" cxnId="{E23B263D-31FC-4B4B-BFF2-220FCFDF99D9}">
      <dgm:prSet/>
      <dgm:spPr/>
      <dgm:t>
        <a:bodyPr/>
        <a:lstStyle/>
        <a:p>
          <a:endParaRPr lang="en-US"/>
        </a:p>
      </dgm:t>
    </dgm:pt>
    <dgm:pt modelId="{A08BAA50-06A2-45CE-B037-1F6D5A5D9AC2}" type="sibTrans" cxnId="{E23B263D-31FC-4B4B-BFF2-220FCFDF99D9}">
      <dgm:prSet/>
      <dgm:spPr/>
      <dgm:t>
        <a:bodyPr/>
        <a:lstStyle/>
        <a:p>
          <a:endParaRPr lang="en-US"/>
        </a:p>
      </dgm:t>
    </dgm:pt>
    <dgm:pt modelId="{4F868B59-4609-4DF0-9266-9089854E83E3}">
      <dgm:prSet/>
      <dgm:spPr/>
      <dgm:t>
        <a:bodyPr/>
        <a:lstStyle/>
        <a:p>
          <a:r>
            <a:rPr lang="en-US" dirty="0">
              <a:latin typeface="Amasis MT Pro Medium" panose="02040604050005020304" pitchFamily="18" charset="0"/>
            </a:rPr>
            <a:t>SPIRAL DUCTS </a:t>
          </a:r>
        </a:p>
      </dgm:t>
    </dgm:pt>
    <dgm:pt modelId="{7EA43C39-EC60-415B-B28B-7AC37EB7804F}" type="parTrans" cxnId="{4D761C0E-18E1-4933-ABB8-C86D1010010E}">
      <dgm:prSet/>
      <dgm:spPr/>
      <dgm:t>
        <a:bodyPr/>
        <a:lstStyle/>
        <a:p>
          <a:endParaRPr lang="en-US"/>
        </a:p>
      </dgm:t>
    </dgm:pt>
    <dgm:pt modelId="{DE8279EB-EB32-4863-823A-FA64F6B15E67}" type="sibTrans" cxnId="{4D761C0E-18E1-4933-ABB8-C86D1010010E}">
      <dgm:prSet/>
      <dgm:spPr/>
      <dgm:t>
        <a:bodyPr/>
        <a:lstStyle/>
        <a:p>
          <a:endParaRPr lang="en-US"/>
        </a:p>
      </dgm:t>
    </dgm:pt>
    <dgm:pt modelId="{C353FB6E-4832-4F57-AAFF-545D17B07EBF}">
      <dgm:prSet/>
      <dgm:spPr/>
      <dgm:t>
        <a:bodyPr/>
        <a:lstStyle/>
        <a:p>
          <a:r>
            <a:rPr lang="en-US" dirty="0">
              <a:latin typeface="Amasis MT Pro Medium" panose="02040604050005020304" pitchFamily="18" charset="0"/>
            </a:rPr>
            <a:t>RECTANGULAR DUCTS</a:t>
          </a:r>
        </a:p>
      </dgm:t>
    </dgm:pt>
    <dgm:pt modelId="{7A6CFB51-B646-410C-B889-1E1835107B91}" type="parTrans" cxnId="{EE1DC111-8915-41CF-8138-110E578FDD63}">
      <dgm:prSet/>
      <dgm:spPr/>
      <dgm:t>
        <a:bodyPr/>
        <a:lstStyle/>
        <a:p>
          <a:endParaRPr lang="en-US"/>
        </a:p>
      </dgm:t>
    </dgm:pt>
    <dgm:pt modelId="{626CCFD1-E8D4-4470-BE4B-C789E2883719}" type="sibTrans" cxnId="{EE1DC111-8915-41CF-8138-110E578FDD63}">
      <dgm:prSet/>
      <dgm:spPr/>
      <dgm:t>
        <a:bodyPr/>
        <a:lstStyle/>
        <a:p>
          <a:endParaRPr lang="en-US"/>
        </a:p>
      </dgm:t>
    </dgm:pt>
    <dgm:pt modelId="{15142BFD-712C-4D6D-A32B-151309E4173F}">
      <dgm:prSet/>
      <dgm:spPr/>
      <dgm:t>
        <a:bodyPr/>
        <a:lstStyle/>
        <a:p>
          <a:r>
            <a:rPr lang="en-US" dirty="0">
              <a:latin typeface="Amasis MT Pro Medium" panose="02040604050005020304" pitchFamily="18" charset="0"/>
            </a:rPr>
            <a:t>ELBOWS (45/ 90 DEGREES)</a:t>
          </a:r>
        </a:p>
      </dgm:t>
    </dgm:pt>
    <dgm:pt modelId="{019B1029-E4A3-4CC4-82F8-E70A40615B8C}" type="parTrans" cxnId="{AF1719EE-F1CC-41A3-9075-3143949E20A4}">
      <dgm:prSet/>
      <dgm:spPr/>
      <dgm:t>
        <a:bodyPr/>
        <a:lstStyle/>
        <a:p>
          <a:endParaRPr lang="en-US"/>
        </a:p>
      </dgm:t>
    </dgm:pt>
    <dgm:pt modelId="{A38FBC18-15A0-42D0-9285-634877976C32}" type="sibTrans" cxnId="{AF1719EE-F1CC-41A3-9075-3143949E20A4}">
      <dgm:prSet/>
      <dgm:spPr/>
      <dgm:t>
        <a:bodyPr/>
        <a:lstStyle/>
        <a:p>
          <a:endParaRPr lang="en-US"/>
        </a:p>
      </dgm:t>
    </dgm:pt>
    <dgm:pt modelId="{D1C67BFA-0BEB-49A1-BCD7-9CB0FA156CDB}">
      <dgm:prSet/>
      <dgm:spPr/>
      <dgm:t>
        <a:bodyPr/>
        <a:lstStyle/>
        <a:p>
          <a:r>
            <a:rPr lang="en-US" dirty="0">
              <a:latin typeface="Amasis MT Pro Medium" panose="02040604050005020304" pitchFamily="18" charset="0"/>
            </a:rPr>
            <a:t>FLEXIBLE DUCTS</a:t>
          </a:r>
        </a:p>
      </dgm:t>
    </dgm:pt>
    <dgm:pt modelId="{702DEBF9-A45D-49BE-94CD-EB37A0EA10AA}" type="parTrans" cxnId="{CD5E4B9B-6F2F-4F09-B4AC-2269F375C621}">
      <dgm:prSet/>
      <dgm:spPr/>
      <dgm:t>
        <a:bodyPr/>
        <a:lstStyle/>
        <a:p>
          <a:endParaRPr lang="en-US"/>
        </a:p>
      </dgm:t>
    </dgm:pt>
    <dgm:pt modelId="{768D1521-04E6-4B83-9C67-4A2795138FF2}" type="sibTrans" cxnId="{CD5E4B9B-6F2F-4F09-B4AC-2269F375C621}">
      <dgm:prSet/>
      <dgm:spPr/>
      <dgm:t>
        <a:bodyPr/>
        <a:lstStyle/>
        <a:p>
          <a:endParaRPr lang="en-US"/>
        </a:p>
      </dgm:t>
    </dgm:pt>
    <dgm:pt modelId="{1787F006-8F0C-4A98-81FE-05189AAEAE40}">
      <dgm:prSet/>
      <dgm:spPr/>
      <dgm:t>
        <a:bodyPr/>
        <a:lstStyle/>
        <a:p>
          <a:r>
            <a:rPr lang="en-US" dirty="0">
              <a:latin typeface="Amasis MT Pro Medium" panose="02040604050005020304" pitchFamily="18" charset="0"/>
            </a:rPr>
            <a:t>RISER (FLOOR UP/FLOOR DOWN)</a:t>
          </a:r>
        </a:p>
      </dgm:t>
    </dgm:pt>
    <dgm:pt modelId="{C5642312-93EE-41F3-BACD-DE130B8E9D75}" type="parTrans" cxnId="{15509F36-0F21-4566-9F54-358F6B32106A}">
      <dgm:prSet/>
      <dgm:spPr/>
      <dgm:t>
        <a:bodyPr/>
        <a:lstStyle/>
        <a:p>
          <a:endParaRPr lang="en-US"/>
        </a:p>
      </dgm:t>
    </dgm:pt>
    <dgm:pt modelId="{AF14D451-EF6E-420C-BCAB-94D99EAFBAAF}" type="sibTrans" cxnId="{15509F36-0F21-4566-9F54-358F6B32106A}">
      <dgm:prSet/>
      <dgm:spPr/>
      <dgm:t>
        <a:bodyPr/>
        <a:lstStyle/>
        <a:p>
          <a:endParaRPr lang="en-US"/>
        </a:p>
      </dgm:t>
    </dgm:pt>
    <dgm:pt modelId="{622DB9D0-34A1-47CB-8BA9-9094E8278E62}">
      <dgm:prSet/>
      <dgm:spPr/>
      <dgm:t>
        <a:bodyPr/>
        <a:lstStyle/>
        <a:p>
          <a:r>
            <a:rPr lang="en-US" dirty="0">
              <a:latin typeface="Amasis MT Pro Medium" panose="02040604050005020304" pitchFamily="18" charset="0"/>
            </a:rPr>
            <a:t>USE STANDARD UNITS AS PER GIVEN IN FILE </a:t>
          </a:r>
          <a:br>
            <a:rPr lang="en-US" dirty="0">
              <a:latin typeface="Amasis MT Pro Medium" panose="02040604050005020304" pitchFamily="18" charset="0"/>
            </a:rPr>
          </a:br>
          <a:r>
            <a:rPr lang="en-US" dirty="0">
              <a:latin typeface="Amasis MT Pro Medium" panose="02040604050005020304" pitchFamily="18" charset="0"/>
            </a:rPr>
            <a:t>(INCHES/MM)</a:t>
          </a:r>
        </a:p>
      </dgm:t>
    </dgm:pt>
    <dgm:pt modelId="{16A92A6A-665B-43F5-85F6-EBA3C99FF293}" type="parTrans" cxnId="{FCF2C9D2-01ED-4A73-8597-CF2D2812DF3C}">
      <dgm:prSet/>
      <dgm:spPr/>
      <dgm:t>
        <a:bodyPr/>
        <a:lstStyle/>
        <a:p>
          <a:endParaRPr lang="en-US"/>
        </a:p>
      </dgm:t>
    </dgm:pt>
    <dgm:pt modelId="{FF19376C-F76E-45F2-8262-9A52F614D454}" type="sibTrans" cxnId="{FCF2C9D2-01ED-4A73-8597-CF2D2812DF3C}">
      <dgm:prSet/>
      <dgm:spPr/>
      <dgm:t>
        <a:bodyPr/>
        <a:lstStyle/>
        <a:p>
          <a:endParaRPr lang="en-US"/>
        </a:p>
      </dgm:t>
    </dgm:pt>
    <dgm:pt modelId="{89FD005D-614F-4525-8B9E-F37F92345A35}">
      <dgm:prSet/>
      <dgm:spPr/>
      <dgm:t>
        <a:bodyPr/>
        <a:lstStyle/>
        <a:p>
          <a:r>
            <a:rPr lang="en-US" dirty="0">
              <a:latin typeface="Amasis MT Pro Medium" panose="02040604050005020304" pitchFamily="18" charset="0"/>
            </a:rPr>
            <a:t>ROUND RIGID DUCTS  </a:t>
          </a:r>
        </a:p>
      </dgm:t>
    </dgm:pt>
    <dgm:pt modelId="{7E34B58D-3871-455E-8346-62B094C8320F}" type="parTrans" cxnId="{649E1D65-39BB-4062-BA8E-307E32CC5502}">
      <dgm:prSet/>
      <dgm:spPr/>
      <dgm:t>
        <a:bodyPr/>
        <a:lstStyle/>
        <a:p>
          <a:endParaRPr lang="en-IN"/>
        </a:p>
      </dgm:t>
    </dgm:pt>
    <dgm:pt modelId="{0702C5F8-4304-4846-A4EA-54C8533206BC}" type="sibTrans" cxnId="{649E1D65-39BB-4062-BA8E-307E32CC5502}">
      <dgm:prSet/>
      <dgm:spPr/>
      <dgm:t>
        <a:bodyPr/>
        <a:lstStyle/>
        <a:p>
          <a:endParaRPr lang="en-IN"/>
        </a:p>
      </dgm:t>
    </dgm:pt>
    <dgm:pt modelId="{FB9F0489-EAF3-48F7-A3B6-8AF9AE6201AA}" type="pres">
      <dgm:prSet presAssocID="{BC33A4BE-B4A6-4347-BAA9-A9174CA50070}" presName="vert0" presStyleCnt="0">
        <dgm:presLayoutVars>
          <dgm:dir/>
          <dgm:animOne val="branch"/>
          <dgm:animLvl val="lvl"/>
        </dgm:presLayoutVars>
      </dgm:prSet>
      <dgm:spPr/>
      <dgm:t>
        <a:bodyPr/>
        <a:lstStyle/>
        <a:p>
          <a:endParaRPr lang="en-US"/>
        </a:p>
      </dgm:t>
    </dgm:pt>
    <dgm:pt modelId="{6D3B3E9C-892C-4D5C-841A-2F410CAFE7C0}" type="pres">
      <dgm:prSet presAssocID="{968EAD7F-398E-4328-B29D-32216E6437DF}" presName="thickLine" presStyleLbl="alignNode1" presStyleIdx="0" presStyleCnt="8"/>
      <dgm:spPr/>
    </dgm:pt>
    <dgm:pt modelId="{3DEFFCAA-19EB-4D4D-AB8C-7B2CE67C6452}" type="pres">
      <dgm:prSet presAssocID="{968EAD7F-398E-4328-B29D-32216E6437DF}" presName="horz1" presStyleCnt="0"/>
      <dgm:spPr/>
    </dgm:pt>
    <dgm:pt modelId="{B80C883E-C5DE-400B-A2F6-9D691B31F4E7}" type="pres">
      <dgm:prSet presAssocID="{968EAD7F-398E-4328-B29D-32216E6437DF}" presName="tx1" presStyleLbl="revTx" presStyleIdx="0" presStyleCnt="8"/>
      <dgm:spPr/>
      <dgm:t>
        <a:bodyPr/>
        <a:lstStyle/>
        <a:p>
          <a:endParaRPr lang="en-US"/>
        </a:p>
      </dgm:t>
    </dgm:pt>
    <dgm:pt modelId="{7E5EF2CC-0293-4907-A75C-E098858CBC31}" type="pres">
      <dgm:prSet presAssocID="{968EAD7F-398E-4328-B29D-32216E6437DF}" presName="vert1" presStyleCnt="0"/>
      <dgm:spPr/>
    </dgm:pt>
    <dgm:pt modelId="{40337FFB-39CD-4CF7-9903-FE8CC2E4C90C}" type="pres">
      <dgm:prSet presAssocID="{4F868B59-4609-4DF0-9266-9089854E83E3}" presName="thickLine" presStyleLbl="alignNode1" presStyleIdx="1" presStyleCnt="8"/>
      <dgm:spPr/>
    </dgm:pt>
    <dgm:pt modelId="{11CD5F86-EF62-4A8E-95A2-846AA164BD33}" type="pres">
      <dgm:prSet presAssocID="{4F868B59-4609-4DF0-9266-9089854E83E3}" presName="horz1" presStyleCnt="0"/>
      <dgm:spPr/>
    </dgm:pt>
    <dgm:pt modelId="{F999C67E-0C5A-4AB0-8D03-236BC5E5CBFF}" type="pres">
      <dgm:prSet presAssocID="{4F868B59-4609-4DF0-9266-9089854E83E3}" presName="tx1" presStyleLbl="revTx" presStyleIdx="1" presStyleCnt="8"/>
      <dgm:spPr/>
      <dgm:t>
        <a:bodyPr/>
        <a:lstStyle/>
        <a:p>
          <a:endParaRPr lang="en-US"/>
        </a:p>
      </dgm:t>
    </dgm:pt>
    <dgm:pt modelId="{807EBD90-B8AD-4D2F-8A2E-CF65FA6357BB}" type="pres">
      <dgm:prSet presAssocID="{4F868B59-4609-4DF0-9266-9089854E83E3}" presName="vert1" presStyleCnt="0"/>
      <dgm:spPr/>
    </dgm:pt>
    <dgm:pt modelId="{C175FE13-EAEC-4307-91BA-6D6011962958}" type="pres">
      <dgm:prSet presAssocID="{89FD005D-614F-4525-8B9E-F37F92345A35}" presName="thickLine" presStyleLbl="alignNode1" presStyleIdx="2" presStyleCnt="8"/>
      <dgm:spPr/>
    </dgm:pt>
    <dgm:pt modelId="{4EBE2D27-0281-4977-A7F8-36F4F02A66BB}" type="pres">
      <dgm:prSet presAssocID="{89FD005D-614F-4525-8B9E-F37F92345A35}" presName="horz1" presStyleCnt="0"/>
      <dgm:spPr/>
    </dgm:pt>
    <dgm:pt modelId="{0E223763-5756-4CAB-B29F-16599CEF50E0}" type="pres">
      <dgm:prSet presAssocID="{89FD005D-614F-4525-8B9E-F37F92345A35}" presName="tx1" presStyleLbl="revTx" presStyleIdx="2" presStyleCnt="8"/>
      <dgm:spPr/>
      <dgm:t>
        <a:bodyPr/>
        <a:lstStyle/>
        <a:p>
          <a:endParaRPr lang="en-US"/>
        </a:p>
      </dgm:t>
    </dgm:pt>
    <dgm:pt modelId="{BBB34E42-0EB1-4893-B251-27315A4222DC}" type="pres">
      <dgm:prSet presAssocID="{89FD005D-614F-4525-8B9E-F37F92345A35}" presName="vert1" presStyleCnt="0"/>
      <dgm:spPr/>
    </dgm:pt>
    <dgm:pt modelId="{F23D68D6-3183-4768-B980-41581287A8DF}" type="pres">
      <dgm:prSet presAssocID="{C353FB6E-4832-4F57-AAFF-545D17B07EBF}" presName="thickLine" presStyleLbl="alignNode1" presStyleIdx="3" presStyleCnt="8"/>
      <dgm:spPr/>
    </dgm:pt>
    <dgm:pt modelId="{5FCE0159-80BA-4F1D-AAF8-62A9ED665C7C}" type="pres">
      <dgm:prSet presAssocID="{C353FB6E-4832-4F57-AAFF-545D17B07EBF}" presName="horz1" presStyleCnt="0"/>
      <dgm:spPr/>
    </dgm:pt>
    <dgm:pt modelId="{C01A3894-CFFB-429B-8BE4-38D2030F4B6A}" type="pres">
      <dgm:prSet presAssocID="{C353FB6E-4832-4F57-AAFF-545D17B07EBF}" presName="tx1" presStyleLbl="revTx" presStyleIdx="3" presStyleCnt="8"/>
      <dgm:spPr/>
      <dgm:t>
        <a:bodyPr/>
        <a:lstStyle/>
        <a:p>
          <a:endParaRPr lang="en-US"/>
        </a:p>
      </dgm:t>
    </dgm:pt>
    <dgm:pt modelId="{61A1B64C-704D-46FA-A77C-010A8AEF1664}" type="pres">
      <dgm:prSet presAssocID="{C353FB6E-4832-4F57-AAFF-545D17B07EBF}" presName="vert1" presStyleCnt="0"/>
      <dgm:spPr/>
    </dgm:pt>
    <dgm:pt modelId="{7ECB829A-810C-480E-BDAA-6392C256E0F2}" type="pres">
      <dgm:prSet presAssocID="{15142BFD-712C-4D6D-A32B-151309E4173F}" presName="thickLine" presStyleLbl="alignNode1" presStyleIdx="4" presStyleCnt="8"/>
      <dgm:spPr/>
    </dgm:pt>
    <dgm:pt modelId="{D1941EF2-C3E4-48F2-ADD2-2DB2580F93AC}" type="pres">
      <dgm:prSet presAssocID="{15142BFD-712C-4D6D-A32B-151309E4173F}" presName="horz1" presStyleCnt="0"/>
      <dgm:spPr/>
    </dgm:pt>
    <dgm:pt modelId="{EA3B5209-67C2-4FFA-920E-EAF41886CA4A}" type="pres">
      <dgm:prSet presAssocID="{15142BFD-712C-4D6D-A32B-151309E4173F}" presName="tx1" presStyleLbl="revTx" presStyleIdx="4" presStyleCnt="8"/>
      <dgm:spPr/>
      <dgm:t>
        <a:bodyPr/>
        <a:lstStyle/>
        <a:p>
          <a:endParaRPr lang="en-US"/>
        </a:p>
      </dgm:t>
    </dgm:pt>
    <dgm:pt modelId="{16150F62-1B7F-4014-A3BA-B3043864CB69}" type="pres">
      <dgm:prSet presAssocID="{15142BFD-712C-4D6D-A32B-151309E4173F}" presName="vert1" presStyleCnt="0"/>
      <dgm:spPr/>
    </dgm:pt>
    <dgm:pt modelId="{A8A5E2F5-170A-4FA0-8238-894639FD1238}" type="pres">
      <dgm:prSet presAssocID="{D1C67BFA-0BEB-49A1-BCD7-9CB0FA156CDB}" presName="thickLine" presStyleLbl="alignNode1" presStyleIdx="5" presStyleCnt="8"/>
      <dgm:spPr/>
    </dgm:pt>
    <dgm:pt modelId="{9A2A72FF-A88D-4EF8-A42B-80E05AB6346C}" type="pres">
      <dgm:prSet presAssocID="{D1C67BFA-0BEB-49A1-BCD7-9CB0FA156CDB}" presName="horz1" presStyleCnt="0"/>
      <dgm:spPr/>
    </dgm:pt>
    <dgm:pt modelId="{84AF4FFD-B125-4DB2-96B2-72770D5B1BB6}" type="pres">
      <dgm:prSet presAssocID="{D1C67BFA-0BEB-49A1-BCD7-9CB0FA156CDB}" presName="tx1" presStyleLbl="revTx" presStyleIdx="5" presStyleCnt="8"/>
      <dgm:spPr/>
      <dgm:t>
        <a:bodyPr/>
        <a:lstStyle/>
        <a:p>
          <a:endParaRPr lang="en-US"/>
        </a:p>
      </dgm:t>
    </dgm:pt>
    <dgm:pt modelId="{FFB0BFB4-7A4D-497A-945E-FB4D185B1B03}" type="pres">
      <dgm:prSet presAssocID="{D1C67BFA-0BEB-49A1-BCD7-9CB0FA156CDB}" presName="vert1" presStyleCnt="0"/>
      <dgm:spPr/>
    </dgm:pt>
    <dgm:pt modelId="{82DAACD7-3EAB-42B2-ACA8-BB2861AD1162}" type="pres">
      <dgm:prSet presAssocID="{1787F006-8F0C-4A98-81FE-05189AAEAE40}" presName="thickLine" presStyleLbl="alignNode1" presStyleIdx="6" presStyleCnt="8"/>
      <dgm:spPr/>
    </dgm:pt>
    <dgm:pt modelId="{DDF64C13-B7F8-4C66-A7C7-C927D029F10C}" type="pres">
      <dgm:prSet presAssocID="{1787F006-8F0C-4A98-81FE-05189AAEAE40}" presName="horz1" presStyleCnt="0"/>
      <dgm:spPr/>
    </dgm:pt>
    <dgm:pt modelId="{CEE541A5-5D08-4D70-AB74-22B1390D9430}" type="pres">
      <dgm:prSet presAssocID="{1787F006-8F0C-4A98-81FE-05189AAEAE40}" presName="tx1" presStyleLbl="revTx" presStyleIdx="6" presStyleCnt="8"/>
      <dgm:spPr/>
      <dgm:t>
        <a:bodyPr/>
        <a:lstStyle/>
        <a:p>
          <a:endParaRPr lang="en-US"/>
        </a:p>
      </dgm:t>
    </dgm:pt>
    <dgm:pt modelId="{DEAAC6FB-A01D-43D4-84E1-482C9B9A838D}" type="pres">
      <dgm:prSet presAssocID="{1787F006-8F0C-4A98-81FE-05189AAEAE40}" presName="vert1" presStyleCnt="0"/>
      <dgm:spPr/>
    </dgm:pt>
    <dgm:pt modelId="{76ACB3E3-3E07-4C42-B5C7-B6A30245B71F}" type="pres">
      <dgm:prSet presAssocID="{622DB9D0-34A1-47CB-8BA9-9094E8278E62}" presName="thickLine" presStyleLbl="alignNode1" presStyleIdx="7" presStyleCnt="8"/>
      <dgm:spPr/>
    </dgm:pt>
    <dgm:pt modelId="{DB9CBC48-9A3D-4BB0-BA1E-59862FCF2E9E}" type="pres">
      <dgm:prSet presAssocID="{622DB9D0-34A1-47CB-8BA9-9094E8278E62}" presName="horz1" presStyleCnt="0"/>
      <dgm:spPr/>
    </dgm:pt>
    <dgm:pt modelId="{7C55661C-1E99-44BD-AC0E-1C8966D0C3DD}" type="pres">
      <dgm:prSet presAssocID="{622DB9D0-34A1-47CB-8BA9-9094E8278E62}" presName="tx1" presStyleLbl="revTx" presStyleIdx="7" presStyleCnt="8"/>
      <dgm:spPr/>
      <dgm:t>
        <a:bodyPr/>
        <a:lstStyle/>
        <a:p>
          <a:endParaRPr lang="en-US"/>
        </a:p>
      </dgm:t>
    </dgm:pt>
    <dgm:pt modelId="{CE0DD377-BEA8-42BD-A89A-47D1BF2AC232}" type="pres">
      <dgm:prSet presAssocID="{622DB9D0-34A1-47CB-8BA9-9094E8278E62}" presName="vert1" presStyleCnt="0"/>
      <dgm:spPr/>
    </dgm:pt>
  </dgm:ptLst>
  <dgm:cxnLst>
    <dgm:cxn modelId="{4D761C0E-18E1-4933-ABB8-C86D1010010E}" srcId="{BC33A4BE-B4A6-4347-BAA9-A9174CA50070}" destId="{4F868B59-4609-4DF0-9266-9089854E83E3}" srcOrd="1" destOrd="0" parTransId="{7EA43C39-EC60-415B-B28B-7AC37EB7804F}" sibTransId="{DE8279EB-EB32-4863-823A-FA64F6B15E67}"/>
    <dgm:cxn modelId="{CD5E4B9B-6F2F-4F09-B4AC-2269F375C621}" srcId="{BC33A4BE-B4A6-4347-BAA9-A9174CA50070}" destId="{D1C67BFA-0BEB-49A1-BCD7-9CB0FA156CDB}" srcOrd="5" destOrd="0" parTransId="{702DEBF9-A45D-49BE-94CD-EB37A0EA10AA}" sibTransId="{768D1521-04E6-4B83-9C67-4A2795138FF2}"/>
    <dgm:cxn modelId="{497DA0A0-BCE0-432A-9C82-B9090B918CAC}" type="presOf" srcId="{BC33A4BE-B4A6-4347-BAA9-A9174CA50070}" destId="{FB9F0489-EAF3-48F7-A3B6-8AF9AE6201AA}" srcOrd="0" destOrd="0" presId="urn:microsoft.com/office/officeart/2008/layout/LinedList"/>
    <dgm:cxn modelId="{D76C4C47-51DB-40CB-BDAD-E7186E1FE92B}" type="presOf" srcId="{89FD005D-614F-4525-8B9E-F37F92345A35}" destId="{0E223763-5756-4CAB-B29F-16599CEF50E0}" srcOrd="0" destOrd="0" presId="urn:microsoft.com/office/officeart/2008/layout/LinedList"/>
    <dgm:cxn modelId="{649E1D65-39BB-4062-BA8E-307E32CC5502}" srcId="{BC33A4BE-B4A6-4347-BAA9-A9174CA50070}" destId="{89FD005D-614F-4525-8B9E-F37F92345A35}" srcOrd="2" destOrd="0" parTransId="{7E34B58D-3871-455E-8346-62B094C8320F}" sibTransId="{0702C5F8-4304-4846-A4EA-54C8533206BC}"/>
    <dgm:cxn modelId="{A7EA9580-252C-4D35-BDA5-8A43DD636257}" type="presOf" srcId="{4F868B59-4609-4DF0-9266-9089854E83E3}" destId="{F999C67E-0C5A-4AB0-8D03-236BC5E5CBFF}" srcOrd="0" destOrd="0" presId="urn:microsoft.com/office/officeart/2008/layout/LinedList"/>
    <dgm:cxn modelId="{AF1719EE-F1CC-41A3-9075-3143949E20A4}" srcId="{BC33A4BE-B4A6-4347-BAA9-A9174CA50070}" destId="{15142BFD-712C-4D6D-A32B-151309E4173F}" srcOrd="4" destOrd="0" parTransId="{019B1029-E4A3-4CC4-82F8-E70A40615B8C}" sibTransId="{A38FBC18-15A0-42D0-9285-634877976C32}"/>
    <dgm:cxn modelId="{27DAC504-E357-47A4-AE34-88F64FB50ECA}" type="presOf" srcId="{C353FB6E-4832-4F57-AAFF-545D17B07EBF}" destId="{C01A3894-CFFB-429B-8BE4-38D2030F4B6A}" srcOrd="0" destOrd="0" presId="urn:microsoft.com/office/officeart/2008/layout/LinedList"/>
    <dgm:cxn modelId="{F62FD953-C17A-43DF-9D96-773B43515708}" type="presOf" srcId="{968EAD7F-398E-4328-B29D-32216E6437DF}" destId="{B80C883E-C5DE-400B-A2F6-9D691B31F4E7}" srcOrd="0" destOrd="0" presId="urn:microsoft.com/office/officeart/2008/layout/LinedList"/>
    <dgm:cxn modelId="{15509F36-0F21-4566-9F54-358F6B32106A}" srcId="{BC33A4BE-B4A6-4347-BAA9-A9174CA50070}" destId="{1787F006-8F0C-4A98-81FE-05189AAEAE40}" srcOrd="6" destOrd="0" parTransId="{C5642312-93EE-41F3-BACD-DE130B8E9D75}" sibTransId="{AF14D451-EF6E-420C-BCAB-94D99EAFBAAF}"/>
    <dgm:cxn modelId="{25C5F536-2BB4-41AF-B8EA-865FF34F06FD}" type="presOf" srcId="{15142BFD-712C-4D6D-A32B-151309E4173F}" destId="{EA3B5209-67C2-4FFA-920E-EAF41886CA4A}" srcOrd="0" destOrd="0" presId="urn:microsoft.com/office/officeart/2008/layout/LinedList"/>
    <dgm:cxn modelId="{98E2ABAC-2783-4579-BE99-3D354AE1DF7A}" type="presOf" srcId="{622DB9D0-34A1-47CB-8BA9-9094E8278E62}" destId="{7C55661C-1E99-44BD-AC0E-1C8966D0C3DD}" srcOrd="0" destOrd="0" presId="urn:microsoft.com/office/officeart/2008/layout/LinedList"/>
    <dgm:cxn modelId="{FCF2C9D2-01ED-4A73-8597-CF2D2812DF3C}" srcId="{BC33A4BE-B4A6-4347-BAA9-A9174CA50070}" destId="{622DB9D0-34A1-47CB-8BA9-9094E8278E62}" srcOrd="7" destOrd="0" parTransId="{16A92A6A-665B-43F5-85F6-EBA3C99FF293}" sibTransId="{FF19376C-F76E-45F2-8262-9A52F614D454}"/>
    <dgm:cxn modelId="{EE1DC111-8915-41CF-8138-110E578FDD63}" srcId="{BC33A4BE-B4A6-4347-BAA9-A9174CA50070}" destId="{C353FB6E-4832-4F57-AAFF-545D17B07EBF}" srcOrd="3" destOrd="0" parTransId="{7A6CFB51-B646-410C-B889-1E1835107B91}" sibTransId="{626CCFD1-E8D4-4470-BE4B-C789E2883719}"/>
    <dgm:cxn modelId="{03B27049-9E22-4146-B5C4-6AF50368D536}" type="presOf" srcId="{1787F006-8F0C-4A98-81FE-05189AAEAE40}" destId="{CEE541A5-5D08-4D70-AB74-22B1390D9430}" srcOrd="0" destOrd="0" presId="urn:microsoft.com/office/officeart/2008/layout/LinedList"/>
    <dgm:cxn modelId="{8FFAD2A1-601B-4E98-B426-6A8D3DE5AF6B}" type="presOf" srcId="{D1C67BFA-0BEB-49A1-BCD7-9CB0FA156CDB}" destId="{84AF4FFD-B125-4DB2-96B2-72770D5B1BB6}" srcOrd="0" destOrd="0" presId="urn:microsoft.com/office/officeart/2008/layout/LinedList"/>
    <dgm:cxn modelId="{E23B263D-31FC-4B4B-BFF2-220FCFDF99D9}" srcId="{BC33A4BE-B4A6-4347-BAA9-A9174CA50070}" destId="{968EAD7F-398E-4328-B29D-32216E6437DF}" srcOrd="0" destOrd="0" parTransId="{62305764-9564-458F-B812-3FB4AB94A81F}" sibTransId="{A08BAA50-06A2-45CE-B037-1F6D5A5D9AC2}"/>
    <dgm:cxn modelId="{0080B6AE-CA3B-4818-8605-BE7427F167D3}" type="presParOf" srcId="{FB9F0489-EAF3-48F7-A3B6-8AF9AE6201AA}" destId="{6D3B3E9C-892C-4D5C-841A-2F410CAFE7C0}" srcOrd="0" destOrd="0" presId="urn:microsoft.com/office/officeart/2008/layout/LinedList"/>
    <dgm:cxn modelId="{E5E3A4A7-5C08-4633-AB0B-37F983860693}" type="presParOf" srcId="{FB9F0489-EAF3-48F7-A3B6-8AF9AE6201AA}" destId="{3DEFFCAA-19EB-4D4D-AB8C-7B2CE67C6452}" srcOrd="1" destOrd="0" presId="urn:microsoft.com/office/officeart/2008/layout/LinedList"/>
    <dgm:cxn modelId="{D57415AA-9317-4C1C-9EF1-FE2822D81534}" type="presParOf" srcId="{3DEFFCAA-19EB-4D4D-AB8C-7B2CE67C6452}" destId="{B80C883E-C5DE-400B-A2F6-9D691B31F4E7}" srcOrd="0" destOrd="0" presId="urn:microsoft.com/office/officeart/2008/layout/LinedList"/>
    <dgm:cxn modelId="{C259F08D-5229-48F7-AF5A-A96F1130E257}" type="presParOf" srcId="{3DEFFCAA-19EB-4D4D-AB8C-7B2CE67C6452}" destId="{7E5EF2CC-0293-4907-A75C-E098858CBC31}" srcOrd="1" destOrd="0" presId="urn:microsoft.com/office/officeart/2008/layout/LinedList"/>
    <dgm:cxn modelId="{B28D86B9-B368-4420-8212-0BEAD72BD088}" type="presParOf" srcId="{FB9F0489-EAF3-48F7-A3B6-8AF9AE6201AA}" destId="{40337FFB-39CD-4CF7-9903-FE8CC2E4C90C}" srcOrd="2" destOrd="0" presId="urn:microsoft.com/office/officeart/2008/layout/LinedList"/>
    <dgm:cxn modelId="{B8C29A89-7102-4C1A-A8CF-1004A06441DE}" type="presParOf" srcId="{FB9F0489-EAF3-48F7-A3B6-8AF9AE6201AA}" destId="{11CD5F86-EF62-4A8E-95A2-846AA164BD33}" srcOrd="3" destOrd="0" presId="urn:microsoft.com/office/officeart/2008/layout/LinedList"/>
    <dgm:cxn modelId="{1951B908-3E4F-4FCC-A217-083178BAA586}" type="presParOf" srcId="{11CD5F86-EF62-4A8E-95A2-846AA164BD33}" destId="{F999C67E-0C5A-4AB0-8D03-236BC5E5CBFF}" srcOrd="0" destOrd="0" presId="urn:microsoft.com/office/officeart/2008/layout/LinedList"/>
    <dgm:cxn modelId="{D01CD312-E182-4C76-ABDC-B35BABDC6324}" type="presParOf" srcId="{11CD5F86-EF62-4A8E-95A2-846AA164BD33}" destId="{807EBD90-B8AD-4D2F-8A2E-CF65FA6357BB}" srcOrd="1" destOrd="0" presId="urn:microsoft.com/office/officeart/2008/layout/LinedList"/>
    <dgm:cxn modelId="{0FE0CEB8-8BA1-4F25-899B-E38E40716537}" type="presParOf" srcId="{FB9F0489-EAF3-48F7-A3B6-8AF9AE6201AA}" destId="{C175FE13-EAEC-4307-91BA-6D6011962958}" srcOrd="4" destOrd="0" presId="urn:microsoft.com/office/officeart/2008/layout/LinedList"/>
    <dgm:cxn modelId="{06FD63E0-3037-4F1A-BD81-246DE167EE50}" type="presParOf" srcId="{FB9F0489-EAF3-48F7-A3B6-8AF9AE6201AA}" destId="{4EBE2D27-0281-4977-A7F8-36F4F02A66BB}" srcOrd="5" destOrd="0" presId="urn:microsoft.com/office/officeart/2008/layout/LinedList"/>
    <dgm:cxn modelId="{A49CE647-FE5F-48B7-969D-CB84E273DC23}" type="presParOf" srcId="{4EBE2D27-0281-4977-A7F8-36F4F02A66BB}" destId="{0E223763-5756-4CAB-B29F-16599CEF50E0}" srcOrd="0" destOrd="0" presId="urn:microsoft.com/office/officeart/2008/layout/LinedList"/>
    <dgm:cxn modelId="{0CF21763-9438-44AE-A58D-EED37C6867DC}" type="presParOf" srcId="{4EBE2D27-0281-4977-A7F8-36F4F02A66BB}" destId="{BBB34E42-0EB1-4893-B251-27315A4222DC}" srcOrd="1" destOrd="0" presId="urn:microsoft.com/office/officeart/2008/layout/LinedList"/>
    <dgm:cxn modelId="{5DA6262D-726A-4F5E-BD8E-08B0513B9AEA}" type="presParOf" srcId="{FB9F0489-EAF3-48F7-A3B6-8AF9AE6201AA}" destId="{F23D68D6-3183-4768-B980-41581287A8DF}" srcOrd="6" destOrd="0" presId="urn:microsoft.com/office/officeart/2008/layout/LinedList"/>
    <dgm:cxn modelId="{D7154C10-F327-4B18-8DC5-549EC80F6FC0}" type="presParOf" srcId="{FB9F0489-EAF3-48F7-A3B6-8AF9AE6201AA}" destId="{5FCE0159-80BA-4F1D-AAF8-62A9ED665C7C}" srcOrd="7" destOrd="0" presId="urn:microsoft.com/office/officeart/2008/layout/LinedList"/>
    <dgm:cxn modelId="{FD7E5F3C-9CB9-416B-84A2-A449735C4B7C}" type="presParOf" srcId="{5FCE0159-80BA-4F1D-AAF8-62A9ED665C7C}" destId="{C01A3894-CFFB-429B-8BE4-38D2030F4B6A}" srcOrd="0" destOrd="0" presId="urn:microsoft.com/office/officeart/2008/layout/LinedList"/>
    <dgm:cxn modelId="{FA6FDA53-0AD4-41D8-B29A-8CD0E366BC0F}" type="presParOf" srcId="{5FCE0159-80BA-4F1D-AAF8-62A9ED665C7C}" destId="{61A1B64C-704D-46FA-A77C-010A8AEF1664}" srcOrd="1" destOrd="0" presId="urn:microsoft.com/office/officeart/2008/layout/LinedList"/>
    <dgm:cxn modelId="{02ED6A74-C509-42C5-9A68-672BB261E115}" type="presParOf" srcId="{FB9F0489-EAF3-48F7-A3B6-8AF9AE6201AA}" destId="{7ECB829A-810C-480E-BDAA-6392C256E0F2}" srcOrd="8" destOrd="0" presId="urn:microsoft.com/office/officeart/2008/layout/LinedList"/>
    <dgm:cxn modelId="{7F6AE5CB-E633-4DEA-B686-794A7A69723F}" type="presParOf" srcId="{FB9F0489-EAF3-48F7-A3B6-8AF9AE6201AA}" destId="{D1941EF2-C3E4-48F2-ADD2-2DB2580F93AC}" srcOrd="9" destOrd="0" presId="urn:microsoft.com/office/officeart/2008/layout/LinedList"/>
    <dgm:cxn modelId="{09B41B3B-DEDC-4100-AA73-9EA958133250}" type="presParOf" srcId="{D1941EF2-C3E4-48F2-ADD2-2DB2580F93AC}" destId="{EA3B5209-67C2-4FFA-920E-EAF41886CA4A}" srcOrd="0" destOrd="0" presId="urn:microsoft.com/office/officeart/2008/layout/LinedList"/>
    <dgm:cxn modelId="{AED172CB-13C4-4D25-BF90-660EA6B40357}" type="presParOf" srcId="{D1941EF2-C3E4-48F2-ADD2-2DB2580F93AC}" destId="{16150F62-1B7F-4014-A3BA-B3043864CB69}" srcOrd="1" destOrd="0" presId="urn:microsoft.com/office/officeart/2008/layout/LinedList"/>
    <dgm:cxn modelId="{E626C099-AA94-4A70-9400-7824499EDCD9}" type="presParOf" srcId="{FB9F0489-EAF3-48F7-A3B6-8AF9AE6201AA}" destId="{A8A5E2F5-170A-4FA0-8238-894639FD1238}" srcOrd="10" destOrd="0" presId="urn:microsoft.com/office/officeart/2008/layout/LinedList"/>
    <dgm:cxn modelId="{38B79C90-7CD0-4F16-AAD9-08A4BC4F92E2}" type="presParOf" srcId="{FB9F0489-EAF3-48F7-A3B6-8AF9AE6201AA}" destId="{9A2A72FF-A88D-4EF8-A42B-80E05AB6346C}" srcOrd="11" destOrd="0" presId="urn:microsoft.com/office/officeart/2008/layout/LinedList"/>
    <dgm:cxn modelId="{AF00D5F8-D2F1-40CD-8E0E-D841307D27DC}" type="presParOf" srcId="{9A2A72FF-A88D-4EF8-A42B-80E05AB6346C}" destId="{84AF4FFD-B125-4DB2-96B2-72770D5B1BB6}" srcOrd="0" destOrd="0" presId="urn:microsoft.com/office/officeart/2008/layout/LinedList"/>
    <dgm:cxn modelId="{91B1C178-8B3B-4EF6-B2E0-C8BC34F25AEF}" type="presParOf" srcId="{9A2A72FF-A88D-4EF8-A42B-80E05AB6346C}" destId="{FFB0BFB4-7A4D-497A-945E-FB4D185B1B03}" srcOrd="1" destOrd="0" presId="urn:microsoft.com/office/officeart/2008/layout/LinedList"/>
    <dgm:cxn modelId="{CF9602BD-20E2-4C84-BB9D-2501D38A4E4F}" type="presParOf" srcId="{FB9F0489-EAF3-48F7-A3B6-8AF9AE6201AA}" destId="{82DAACD7-3EAB-42B2-ACA8-BB2861AD1162}" srcOrd="12" destOrd="0" presId="urn:microsoft.com/office/officeart/2008/layout/LinedList"/>
    <dgm:cxn modelId="{ABF16CE5-15EA-4F88-836A-583D3684E730}" type="presParOf" srcId="{FB9F0489-EAF3-48F7-A3B6-8AF9AE6201AA}" destId="{DDF64C13-B7F8-4C66-A7C7-C927D029F10C}" srcOrd="13" destOrd="0" presId="urn:microsoft.com/office/officeart/2008/layout/LinedList"/>
    <dgm:cxn modelId="{45EB1731-5E11-4054-874A-81BB0A643FE0}" type="presParOf" srcId="{DDF64C13-B7F8-4C66-A7C7-C927D029F10C}" destId="{CEE541A5-5D08-4D70-AB74-22B1390D9430}" srcOrd="0" destOrd="0" presId="urn:microsoft.com/office/officeart/2008/layout/LinedList"/>
    <dgm:cxn modelId="{F39C73F4-AA10-4374-8F03-A9B36F0F351C}" type="presParOf" srcId="{DDF64C13-B7F8-4C66-A7C7-C927D029F10C}" destId="{DEAAC6FB-A01D-43D4-84E1-482C9B9A838D}" srcOrd="1" destOrd="0" presId="urn:microsoft.com/office/officeart/2008/layout/LinedList"/>
    <dgm:cxn modelId="{B15397D9-F152-4334-8B39-48C4B984CDD3}" type="presParOf" srcId="{FB9F0489-EAF3-48F7-A3B6-8AF9AE6201AA}" destId="{76ACB3E3-3E07-4C42-B5C7-B6A30245B71F}" srcOrd="14" destOrd="0" presId="urn:microsoft.com/office/officeart/2008/layout/LinedList"/>
    <dgm:cxn modelId="{3CCF2BD4-91D4-4A4C-8186-3248AFE1FF02}" type="presParOf" srcId="{FB9F0489-EAF3-48F7-A3B6-8AF9AE6201AA}" destId="{DB9CBC48-9A3D-4BB0-BA1E-59862FCF2E9E}" srcOrd="15" destOrd="0" presId="urn:microsoft.com/office/officeart/2008/layout/LinedList"/>
    <dgm:cxn modelId="{4E1E8A0D-D8C5-4BA8-9170-93ED7B392599}" type="presParOf" srcId="{DB9CBC48-9A3D-4BB0-BA1E-59862FCF2E9E}" destId="{7C55661C-1E99-44BD-AC0E-1C8966D0C3DD}" srcOrd="0" destOrd="0" presId="urn:microsoft.com/office/officeart/2008/layout/LinedList"/>
    <dgm:cxn modelId="{A6C831B7-0395-4B5F-8ABD-A86DB63D211B}" type="presParOf" srcId="{DB9CBC48-9A3D-4BB0-BA1E-59862FCF2E9E}" destId="{CE0DD377-BEA8-42BD-A89A-47D1BF2AC23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B3E9C-892C-4D5C-841A-2F410CAFE7C0}">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C883E-C5DE-400B-A2F6-9D691B31F4E7}">
      <dsp:nvSpPr>
        <dsp:cNvPr id="0" name=""/>
        <dsp:cNvSpPr/>
      </dsp:nvSpPr>
      <dsp:spPr>
        <a:xfrm>
          <a:off x="0" y="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solidFill>
                <a:schemeClr val="accent1"/>
              </a:solidFill>
              <a:latin typeface="Amasis MT Pro Medium" panose="02040604050005020304" pitchFamily="18" charset="0"/>
            </a:rPr>
            <a:t>DUCTING TAKEOFF TO INCLUDE:</a:t>
          </a:r>
        </a:p>
      </dsp:txBody>
      <dsp:txXfrm>
        <a:off x="0" y="0"/>
        <a:ext cx="6900512" cy="692017"/>
      </dsp:txXfrm>
    </dsp:sp>
    <dsp:sp modelId="{40337FFB-39CD-4CF7-9903-FE8CC2E4C90C}">
      <dsp:nvSpPr>
        <dsp:cNvPr id="0" name=""/>
        <dsp:cNvSpPr/>
      </dsp:nvSpPr>
      <dsp:spPr>
        <a:xfrm>
          <a:off x="0" y="692017"/>
          <a:ext cx="6900512" cy="0"/>
        </a:xfrm>
        <a:prstGeom prst="line">
          <a:avLst/>
        </a:prstGeom>
        <a:solidFill>
          <a:schemeClr val="accent2">
            <a:hueOff val="-126099"/>
            <a:satOff val="603"/>
            <a:lumOff val="840"/>
            <a:alphaOff val="0"/>
          </a:schemeClr>
        </a:solidFill>
        <a:ln w="12700" cap="flat" cmpd="sng" algn="ctr">
          <a:solidFill>
            <a:schemeClr val="accent2">
              <a:hueOff val="-126099"/>
              <a:satOff val="603"/>
              <a:lumOff val="8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9C67E-0C5A-4AB0-8D03-236BC5E5CBFF}">
      <dsp:nvSpPr>
        <dsp:cNvPr id="0" name=""/>
        <dsp:cNvSpPr/>
      </dsp:nvSpPr>
      <dsp:spPr>
        <a:xfrm>
          <a:off x="0" y="692017"/>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SPIRAL DUCTS </a:t>
          </a:r>
        </a:p>
      </dsp:txBody>
      <dsp:txXfrm>
        <a:off x="0" y="692017"/>
        <a:ext cx="6900512" cy="692017"/>
      </dsp:txXfrm>
    </dsp:sp>
    <dsp:sp modelId="{C175FE13-EAEC-4307-91BA-6D6011962958}">
      <dsp:nvSpPr>
        <dsp:cNvPr id="0" name=""/>
        <dsp:cNvSpPr/>
      </dsp:nvSpPr>
      <dsp:spPr>
        <a:xfrm>
          <a:off x="0" y="1384035"/>
          <a:ext cx="6900512" cy="0"/>
        </a:xfrm>
        <a:prstGeom prst="line">
          <a:avLst/>
        </a:prstGeom>
        <a:solidFill>
          <a:schemeClr val="accent2">
            <a:hueOff val="-252199"/>
            <a:satOff val="1205"/>
            <a:lumOff val="1681"/>
            <a:alphaOff val="0"/>
          </a:schemeClr>
        </a:solidFill>
        <a:ln w="12700" cap="flat" cmpd="sng" algn="ctr">
          <a:solidFill>
            <a:schemeClr val="accent2">
              <a:hueOff val="-252199"/>
              <a:satOff val="1205"/>
              <a:lumOff val="16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223763-5756-4CAB-B29F-16599CEF50E0}">
      <dsp:nvSpPr>
        <dsp:cNvPr id="0" name=""/>
        <dsp:cNvSpPr/>
      </dsp:nvSpPr>
      <dsp:spPr>
        <a:xfrm>
          <a:off x="0" y="138403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ROUND RIGID DUCTS  </a:t>
          </a:r>
        </a:p>
      </dsp:txBody>
      <dsp:txXfrm>
        <a:off x="0" y="1384035"/>
        <a:ext cx="6900512" cy="692017"/>
      </dsp:txXfrm>
    </dsp:sp>
    <dsp:sp modelId="{F23D68D6-3183-4768-B980-41581287A8DF}">
      <dsp:nvSpPr>
        <dsp:cNvPr id="0" name=""/>
        <dsp:cNvSpPr/>
      </dsp:nvSpPr>
      <dsp:spPr>
        <a:xfrm>
          <a:off x="0" y="2076052"/>
          <a:ext cx="6900512" cy="0"/>
        </a:xfrm>
        <a:prstGeom prst="line">
          <a:avLst/>
        </a:prstGeom>
        <a:solidFill>
          <a:schemeClr val="accent2">
            <a:hueOff val="-378298"/>
            <a:satOff val="1808"/>
            <a:lumOff val="2521"/>
            <a:alphaOff val="0"/>
          </a:schemeClr>
        </a:solidFill>
        <a:ln w="12700" cap="flat" cmpd="sng" algn="ctr">
          <a:solidFill>
            <a:schemeClr val="accent2">
              <a:hueOff val="-378298"/>
              <a:satOff val="1808"/>
              <a:lumOff val="25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A3894-CFFB-429B-8BE4-38D2030F4B6A}">
      <dsp:nvSpPr>
        <dsp:cNvPr id="0" name=""/>
        <dsp:cNvSpPr/>
      </dsp:nvSpPr>
      <dsp:spPr>
        <a:xfrm>
          <a:off x="0" y="2076052"/>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RECTANGULAR DUCTS</a:t>
          </a:r>
        </a:p>
      </dsp:txBody>
      <dsp:txXfrm>
        <a:off x="0" y="2076052"/>
        <a:ext cx="6900512" cy="692017"/>
      </dsp:txXfrm>
    </dsp:sp>
    <dsp:sp modelId="{7ECB829A-810C-480E-BDAA-6392C256E0F2}">
      <dsp:nvSpPr>
        <dsp:cNvPr id="0" name=""/>
        <dsp:cNvSpPr/>
      </dsp:nvSpPr>
      <dsp:spPr>
        <a:xfrm>
          <a:off x="0" y="2768070"/>
          <a:ext cx="6900512" cy="0"/>
        </a:xfrm>
        <a:prstGeom prst="line">
          <a:avLst/>
        </a:prstGeom>
        <a:solidFill>
          <a:schemeClr val="accent2">
            <a:hueOff val="-504398"/>
            <a:satOff val="2410"/>
            <a:lumOff val="3362"/>
            <a:alphaOff val="0"/>
          </a:schemeClr>
        </a:solidFill>
        <a:ln w="12700" cap="flat" cmpd="sng" algn="ctr">
          <a:solidFill>
            <a:schemeClr val="accent2">
              <a:hueOff val="-504398"/>
              <a:satOff val="2410"/>
              <a:lumOff val="33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3B5209-67C2-4FFA-920E-EAF41886CA4A}">
      <dsp:nvSpPr>
        <dsp:cNvPr id="0" name=""/>
        <dsp:cNvSpPr/>
      </dsp:nvSpPr>
      <dsp:spPr>
        <a:xfrm>
          <a:off x="0" y="276807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ELBOWS (45/ 90 DEGREES)</a:t>
          </a:r>
        </a:p>
      </dsp:txBody>
      <dsp:txXfrm>
        <a:off x="0" y="2768070"/>
        <a:ext cx="6900512" cy="692017"/>
      </dsp:txXfrm>
    </dsp:sp>
    <dsp:sp modelId="{A8A5E2F5-170A-4FA0-8238-894639FD1238}">
      <dsp:nvSpPr>
        <dsp:cNvPr id="0" name=""/>
        <dsp:cNvSpPr/>
      </dsp:nvSpPr>
      <dsp:spPr>
        <a:xfrm>
          <a:off x="0" y="3460088"/>
          <a:ext cx="6900512" cy="0"/>
        </a:xfrm>
        <a:prstGeom prst="line">
          <a:avLst/>
        </a:prstGeom>
        <a:solidFill>
          <a:schemeClr val="accent2">
            <a:hueOff val="-630497"/>
            <a:satOff val="3013"/>
            <a:lumOff val="4202"/>
            <a:alphaOff val="0"/>
          </a:schemeClr>
        </a:solidFill>
        <a:ln w="12700" cap="flat" cmpd="sng" algn="ctr">
          <a:solidFill>
            <a:schemeClr val="accent2">
              <a:hueOff val="-630497"/>
              <a:satOff val="3013"/>
              <a:lumOff val="42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AF4FFD-B125-4DB2-96B2-72770D5B1BB6}">
      <dsp:nvSpPr>
        <dsp:cNvPr id="0" name=""/>
        <dsp:cNvSpPr/>
      </dsp:nvSpPr>
      <dsp:spPr>
        <a:xfrm>
          <a:off x="0" y="3460088"/>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FLEXIBLE DUCTS</a:t>
          </a:r>
        </a:p>
      </dsp:txBody>
      <dsp:txXfrm>
        <a:off x="0" y="3460088"/>
        <a:ext cx="6900512" cy="692017"/>
      </dsp:txXfrm>
    </dsp:sp>
    <dsp:sp modelId="{82DAACD7-3EAB-42B2-ACA8-BB2861AD1162}">
      <dsp:nvSpPr>
        <dsp:cNvPr id="0" name=""/>
        <dsp:cNvSpPr/>
      </dsp:nvSpPr>
      <dsp:spPr>
        <a:xfrm>
          <a:off x="0" y="4152105"/>
          <a:ext cx="6900512" cy="0"/>
        </a:xfrm>
        <a:prstGeom prst="line">
          <a:avLst/>
        </a:prstGeom>
        <a:solidFill>
          <a:schemeClr val="accent2">
            <a:hueOff val="-756597"/>
            <a:satOff val="3615"/>
            <a:lumOff val="5043"/>
            <a:alphaOff val="0"/>
          </a:schemeClr>
        </a:solidFill>
        <a:ln w="12700" cap="flat" cmpd="sng" algn="ctr">
          <a:solidFill>
            <a:schemeClr val="accent2">
              <a:hueOff val="-756597"/>
              <a:satOff val="3615"/>
              <a:lumOff val="50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541A5-5D08-4D70-AB74-22B1390D9430}">
      <dsp:nvSpPr>
        <dsp:cNvPr id="0" name=""/>
        <dsp:cNvSpPr/>
      </dsp:nvSpPr>
      <dsp:spPr>
        <a:xfrm>
          <a:off x="0" y="415210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RISER (FLOOR UP/FLOOR DOWN)</a:t>
          </a:r>
        </a:p>
      </dsp:txBody>
      <dsp:txXfrm>
        <a:off x="0" y="4152105"/>
        <a:ext cx="6900512" cy="692017"/>
      </dsp:txXfrm>
    </dsp:sp>
    <dsp:sp modelId="{76ACB3E3-3E07-4C42-B5C7-B6A30245B71F}">
      <dsp:nvSpPr>
        <dsp:cNvPr id="0" name=""/>
        <dsp:cNvSpPr/>
      </dsp:nvSpPr>
      <dsp:spPr>
        <a:xfrm>
          <a:off x="0" y="4844123"/>
          <a:ext cx="6900512" cy="0"/>
        </a:xfrm>
        <a:prstGeom prst="line">
          <a:avLst/>
        </a:prstGeom>
        <a:solidFill>
          <a:schemeClr val="accent2">
            <a:hueOff val="-882696"/>
            <a:satOff val="4218"/>
            <a:lumOff val="5883"/>
            <a:alphaOff val="0"/>
          </a:schemeClr>
        </a:solidFill>
        <a:ln w="12700" cap="flat" cmpd="sng" algn="ctr">
          <a:solidFill>
            <a:schemeClr val="accent2">
              <a:hueOff val="-882696"/>
              <a:satOff val="4218"/>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5661C-1E99-44BD-AC0E-1C8966D0C3DD}">
      <dsp:nvSpPr>
        <dsp:cNvPr id="0" name=""/>
        <dsp:cNvSpPr/>
      </dsp:nvSpPr>
      <dsp:spPr>
        <a:xfrm>
          <a:off x="0" y="4844123"/>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USE STANDARD UNITS AS PER GIVEN IN FILE </a:t>
          </a:r>
          <a:br>
            <a:rPr lang="en-US" sz="1900" kern="1200" dirty="0">
              <a:latin typeface="Amasis MT Pro Medium" panose="02040604050005020304" pitchFamily="18" charset="0"/>
            </a:rPr>
          </a:br>
          <a:r>
            <a:rPr lang="en-US" sz="1900" kern="1200" dirty="0">
              <a:latin typeface="Amasis MT Pro Medium" panose="02040604050005020304" pitchFamily="18" charset="0"/>
            </a:rPr>
            <a:t>(INCHES/MM)</a:t>
          </a:r>
        </a:p>
      </dsp:txBody>
      <dsp:txXfrm>
        <a:off x="0" y="4844123"/>
        <a:ext cx="6900512" cy="6920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AFC5E0-C69C-4A9C-B198-93EFDC8DE4B2}"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8F5F71-410A-40A6-BC5A-95BBDF3A900A}" type="slidenum">
              <a:rPr lang="en-US" smtClean="0"/>
              <a:t>‹#›</a:t>
            </a:fld>
            <a:endParaRPr lang="en-US"/>
          </a:p>
        </p:txBody>
      </p:sp>
    </p:spTree>
    <p:extLst>
      <p:ext uri="{BB962C8B-B14F-4D97-AF65-F5344CB8AC3E}">
        <p14:creationId xmlns:p14="http://schemas.microsoft.com/office/powerpoint/2010/main" val="2376938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8F5F71-410A-40A6-BC5A-95BBDF3A900A}" type="slidenum">
              <a:rPr lang="en-US" smtClean="0"/>
              <a:t>1</a:t>
            </a:fld>
            <a:endParaRPr lang="en-US"/>
          </a:p>
        </p:txBody>
      </p:sp>
    </p:spTree>
    <p:extLst>
      <p:ext uri="{BB962C8B-B14F-4D97-AF65-F5344CB8AC3E}">
        <p14:creationId xmlns:p14="http://schemas.microsoft.com/office/powerpoint/2010/main" val="372318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8F5F71-410A-40A6-BC5A-95BBDF3A900A}" type="slidenum">
              <a:rPr lang="en-US" smtClean="0"/>
              <a:t>31</a:t>
            </a:fld>
            <a:endParaRPr lang="en-US"/>
          </a:p>
        </p:txBody>
      </p:sp>
    </p:spTree>
    <p:extLst>
      <p:ext uri="{BB962C8B-B14F-4D97-AF65-F5344CB8AC3E}">
        <p14:creationId xmlns:p14="http://schemas.microsoft.com/office/powerpoint/2010/main" val="1558809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8F5F71-410A-40A6-BC5A-95BBDF3A900A}" type="slidenum">
              <a:rPr lang="en-US" smtClean="0"/>
              <a:t>32</a:t>
            </a:fld>
            <a:endParaRPr lang="en-US"/>
          </a:p>
        </p:txBody>
      </p:sp>
    </p:spTree>
    <p:extLst>
      <p:ext uri="{BB962C8B-B14F-4D97-AF65-F5344CB8AC3E}">
        <p14:creationId xmlns:p14="http://schemas.microsoft.com/office/powerpoint/2010/main" val="2060222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9/29/2026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248651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74927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62809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3528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52656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4773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78012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07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773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50564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9/29/2026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773853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9/29/2026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3445741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57F69E0-C4B0-4BEC-A689-4F8D877F05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107BEADC-DB07-A684-E879-4B3D3FE1060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31185" b="31185"/>
          <a:stretch/>
        </p:blipFill>
        <p:spPr>
          <a:xfrm>
            <a:off x="20" y="10"/>
            <a:ext cx="12188930" cy="6857990"/>
          </a:xfrm>
          <a:prstGeom prst="rect">
            <a:avLst/>
          </a:prstGeom>
        </p:spPr>
      </p:pic>
      <p:sp>
        <p:nvSpPr>
          <p:cNvPr id="2" name="Title 1">
            <a:extLst>
              <a:ext uri="{FF2B5EF4-FFF2-40B4-BE49-F238E27FC236}">
                <a16:creationId xmlns:a16="http://schemas.microsoft.com/office/drawing/2014/main" id="{556F4FBC-9CCC-85E3-B02C-F42005CABF30}"/>
              </a:ext>
            </a:extLst>
          </p:cNvPr>
          <p:cNvSpPr>
            <a:spLocks noGrp="1"/>
          </p:cNvSpPr>
          <p:nvPr>
            <p:ph type="ctrTitle"/>
          </p:nvPr>
        </p:nvSpPr>
        <p:spPr>
          <a:xfrm>
            <a:off x="1523999" y="1122363"/>
            <a:ext cx="9615055" cy="3063240"/>
          </a:xfrm>
        </p:spPr>
        <p:txBody>
          <a:bodyPr>
            <a:normAutofit/>
          </a:bodyPr>
          <a:lstStyle/>
          <a:p>
            <a:pPr algn="ctr">
              <a:lnSpc>
                <a:spcPct val="90000"/>
              </a:lnSpc>
            </a:pPr>
            <a:r>
              <a:rPr lang="en-US" sz="10000" dirty="0">
                <a:latin typeface="Amasis MT Pro Medium" panose="02040604050005020304" pitchFamily="18" charset="0"/>
              </a:rPr>
              <a:t>VENTILATION</a:t>
            </a:r>
          </a:p>
        </p:txBody>
      </p:sp>
      <p:sp>
        <p:nvSpPr>
          <p:cNvPr id="3" name="Subtitle 2">
            <a:extLst>
              <a:ext uri="{FF2B5EF4-FFF2-40B4-BE49-F238E27FC236}">
                <a16:creationId xmlns:a16="http://schemas.microsoft.com/office/drawing/2014/main" id="{D8BBC505-D2C9-E01E-3422-32CD5228D698}"/>
              </a:ext>
            </a:extLst>
          </p:cNvPr>
          <p:cNvSpPr>
            <a:spLocks noGrp="1"/>
          </p:cNvSpPr>
          <p:nvPr>
            <p:ph type="subTitle" idx="1"/>
          </p:nvPr>
        </p:nvSpPr>
        <p:spPr>
          <a:xfrm>
            <a:off x="1527048" y="4599432"/>
            <a:ext cx="9144000" cy="2118064"/>
          </a:xfrm>
        </p:spPr>
        <p:txBody>
          <a:bodyPr>
            <a:normAutofit/>
          </a:bodyPr>
          <a:lstStyle/>
          <a:p>
            <a:pPr algn="ctr"/>
            <a:r>
              <a:rPr lang="en-US" sz="4400" dirty="0">
                <a:latin typeface="Amasis MT Pro Medium" panose="02040604050005020304" pitchFamily="18" charset="0"/>
              </a:rPr>
              <a:t>DUCTING WORKING NOTES</a:t>
            </a:r>
          </a:p>
          <a:p>
            <a:pPr algn="ctr"/>
            <a:r>
              <a:rPr lang="en-US" sz="2400" dirty="0">
                <a:latin typeface="Amasis MT Pro Medium" panose="02040604050005020304" pitchFamily="18" charset="0"/>
              </a:rPr>
              <a:t>By Triune Solutions</a:t>
            </a:r>
          </a:p>
          <a:p>
            <a:pPr algn="ctr"/>
            <a:endParaRPr lang="en-US" sz="2400" dirty="0">
              <a:latin typeface="Amasis MT Pro Medium" panose="02040604050005020304" pitchFamily="18" charset="0"/>
            </a:endParaRPr>
          </a:p>
          <a:p>
            <a:pPr algn="ctr"/>
            <a:endParaRPr lang="en-US" sz="4400" dirty="0">
              <a:latin typeface="Amasis MT Pro Medium" panose="02040604050005020304" pitchFamily="18" charset="0"/>
            </a:endParaRPr>
          </a:p>
        </p:txBody>
      </p:sp>
      <p:sp>
        <p:nvSpPr>
          <p:cNvPr id="21" name="Rectangle 6">
            <a:extLst>
              <a:ext uri="{FF2B5EF4-FFF2-40B4-BE49-F238E27FC236}">
                <a16:creationId xmlns:a16="http://schemas.microsoft.com/office/drawing/2014/main" id="{9F6380B4-6A1C-481E-8408-B4E6C75B9B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40522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1C335C3-B1E2-4195-FF70-5A4C180A480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B35D49-9DE2-1D2E-2CA0-F1D0D46FE4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7EEEC2-D128-CC24-9EC8-3C4D3C53A1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6A09B8F-285B-05B8-DEEF-CA735E829BCA}"/>
              </a:ext>
            </a:extLst>
          </p:cNvPr>
          <p:cNvSpPr>
            <a:spLocks noGrp="1"/>
          </p:cNvSpPr>
          <p:nvPr>
            <p:ph type="title"/>
          </p:nvPr>
        </p:nvSpPr>
        <p:spPr>
          <a:xfrm>
            <a:off x="635001" y="640823"/>
            <a:ext cx="3262744" cy="5583148"/>
          </a:xfrm>
          <a:noFill/>
        </p:spPr>
        <p:txBody>
          <a:bodyPr anchor="ctr">
            <a:normAutofit/>
          </a:bodyPr>
          <a:lstStyle/>
          <a:p>
            <a:r>
              <a:rPr lang="en-US" dirty="0">
                <a:solidFill>
                  <a:schemeClr val="bg1"/>
                </a:solidFill>
                <a:latin typeface="Amasis MT Pro Medium" panose="02040604050005020304" pitchFamily="18" charset="0"/>
              </a:rPr>
              <a:t>LINE CARD ITEMS FOR DUCTING</a:t>
            </a:r>
          </a:p>
        </p:txBody>
      </p:sp>
      <p:graphicFrame>
        <p:nvGraphicFramePr>
          <p:cNvPr id="5" name="Content Placeholder 2">
            <a:extLst>
              <a:ext uri="{FF2B5EF4-FFF2-40B4-BE49-F238E27FC236}">
                <a16:creationId xmlns:a16="http://schemas.microsoft.com/office/drawing/2014/main" id="{99AAB3C5-7F1A-718C-B9DC-1A030944E6B5}"/>
              </a:ext>
            </a:extLst>
          </p:cNvPr>
          <p:cNvGraphicFramePr>
            <a:graphicFrameLocks noGrp="1"/>
          </p:cNvGraphicFramePr>
          <p:nvPr>
            <p:ph idx="1"/>
            <p:extLst>
              <p:ext uri="{D42A27DB-BD31-4B8C-83A1-F6EECF244321}">
                <p14:modId xmlns:p14="http://schemas.microsoft.com/office/powerpoint/2010/main" val="48003341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9783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TOOLCHEST SYMBOLS FOR DUCTING</a:t>
            </a:r>
          </a:p>
        </p:txBody>
      </p:sp>
      <p:sp>
        <p:nvSpPr>
          <p:cNvPr id="9" name="Content Placeholder 2">
            <a:extLst>
              <a:ext uri="{FF2B5EF4-FFF2-40B4-BE49-F238E27FC236}">
                <a16:creationId xmlns:a16="http://schemas.microsoft.com/office/drawing/2014/main" id="{24CBA09B-0211-B5DE-9281-551746EA3C14}"/>
              </a:ext>
            </a:extLst>
          </p:cNvPr>
          <p:cNvSpPr>
            <a:spLocks noGrp="1"/>
          </p:cNvSpPr>
          <p:nvPr>
            <p:ph idx="1"/>
          </p:nvPr>
        </p:nvSpPr>
        <p:spPr>
          <a:xfrm>
            <a:off x="570346" y="2454154"/>
            <a:ext cx="10515600" cy="4702910"/>
          </a:xfrm>
        </p:spPr>
        <p:txBody>
          <a:bodyPr>
            <a:normAutofit/>
          </a:bodyPr>
          <a:lstStyle/>
          <a:p>
            <a:r>
              <a:rPr lang="en-US" sz="1900" dirty="0">
                <a:solidFill>
                  <a:prstClr val="black">
                    <a:hueOff val="0"/>
                    <a:satOff val="0"/>
                    <a:lumOff val="0"/>
                    <a:alphaOff val="0"/>
                  </a:prstClr>
                </a:solidFill>
                <a:latin typeface="Amasis MT Pro Medium" panose="02040604050005020304" pitchFamily="18" charset="0"/>
              </a:rPr>
              <a:t>RECTANGULAR DUCT </a:t>
            </a:r>
          </a:p>
          <a:p>
            <a:r>
              <a:rPr lang="en-US" sz="1900" dirty="0">
                <a:solidFill>
                  <a:prstClr val="black">
                    <a:hueOff val="0"/>
                    <a:satOff val="0"/>
                    <a:lumOff val="0"/>
                    <a:alphaOff val="0"/>
                  </a:prstClr>
                </a:solidFill>
                <a:latin typeface="Amasis MT Pro Medium" panose="02040604050005020304" pitchFamily="18" charset="0"/>
              </a:rPr>
              <a:t>SPIRAL DUCT</a:t>
            </a:r>
          </a:p>
          <a:p>
            <a:r>
              <a:rPr lang="en-US" sz="1900" dirty="0">
                <a:solidFill>
                  <a:prstClr val="black">
                    <a:hueOff val="0"/>
                    <a:satOff val="0"/>
                    <a:lumOff val="0"/>
                    <a:alphaOff val="0"/>
                  </a:prstClr>
                </a:solidFill>
                <a:latin typeface="Amasis MT Pro Medium" panose="02040604050005020304" pitchFamily="18" charset="0"/>
              </a:rPr>
              <a:t>RISER-10 feet/15 feet</a:t>
            </a:r>
          </a:p>
          <a:p>
            <a:r>
              <a:rPr lang="en-US" sz="1900" dirty="0">
                <a:solidFill>
                  <a:prstClr val="black">
                    <a:hueOff val="0"/>
                    <a:satOff val="0"/>
                    <a:lumOff val="0"/>
                    <a:alphaOff val="0"/>
                  </a:prstClr>
                </a:solidFill>
                <a:latin typeface="Amasis MT Pro Medium" panose="02040604050005020304" pitchFamily="18" charset="0"/>
              </a:rPr>
              <a:t>FLEX DUCT-Max. 5 Feet</a:t>
            </a:r>
          </a:p>
          <a:p>
            <a:r>
              <a:rPr lang="en-US" sz="1900" dirty="0">
                <a:solidFill>
                  <a:prstClr val="black">
                    <a:hueOff val="0"/>
                    <a:satOff val="0"/>
                    <a:lumOff val="0"/>
                    <a:alphaOff val="0"/>
                  </a:prstClr>
                </a:solidFill>
                <a:latin typeface="Amasis MT Pro Medium" panose="02040604050005020304" pitchFamily="18" charset="0"/>
              </a:rPr>
              <a:t>45 ELBOW-Spiral Ducts</a:t>
            </a:r>
          </a:p>
          <a:p>
            <a:r>
              <a:rPr lang="en-US" sz="1900" dirty="0">
                <a:solidFill>
                  <a:prstClr val="black">
                    <a:hueOff val="0"/>
                    <a:satOff val="0"/>
                    <a:lumOff val="0"/>
                    <a:alphaOff val="0"/>
                  </a:prstClr>
                </a:solidFill>
                <a:latin typeface="Amasis MT Pro Medium" panose="02040604050005020304" pitchFamily="18" charset="0"/>
              </a:rPr>
              <a:t>90 ELBOW-Spiral Ducts</a:t>
            </a:r>
          </a:p>
          <a:p>
            <a:r>
              <a:rPr lang="en-US" sz="1900" dirty="0">
                <a:solidFill>
                  <a:prstClr val="black">
                    <a:hueOff val="0"/>
                    <a:satOff val="0"/>
                    <a:lumOff val="0"/>
                    <a:alphaOff val="0"/>
                  </a:prstClr>
                </a:solidFill>
                <a:latin typeface="Amasis MT Pro Medium" panose="02040604050005020304" pitchFamily="18" charset="0"/>
              </a:rPr>
              <a:t>TURNING VANES-Rectangular Ducts</a:t>
            </a:r>
          </a:p>
          <a:p>
            <a:r>
              <a:rPr lang="en-US" sz="1900" dirty="0">
                <a:solidFill>
                  <a:prstClr val="black">
                    <a:hueOff val="0"/>
                    <a:satOff val="0"/>
                    <a:lumOff val="0"/>
                    <a:alphaOff val="0"/>
                  </a:prstClr>
                </a:solidFill>
                <a:latin typeface="Amasis MT Pro Medium" panose="02040604050005020304" pitchFamily="18" charset="0"/>
              </a:rPr>
              <a:t>DAMPERS (ALL TYPES)-Spiral/Rectangular Ducts</a:t>
            </a:r>
          </a:p>
          <a:p>
            <a:endParaRPr lang="en-US" sz="2000" dirty="0">
              <a:latin typeface="Amasis MT Pro Medium" panose="02040604050005020304"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781" y="2454154"/>
            <a:ext cx="4978401" cy="4114891"/>
          </a:xfrm>
          <a:prstGeom prst="rect">
            <a:avLst/>
          </a:prstGeom>
        </p:spPr>
      </p:pic>
    </p:spTree>
    <p:extLst>
      <p:ext uri="{BB962C8B-B14F-4D97-AF65-F5344CB8AC3E}">
        <p14:creationId xmlns:p14="http://schemas.microsoft.com/office/powerpoint/2010/main" val="1795899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RECTANGULAR DUCT TAGGING</a:t>
            </a:r>
          </a:p>
        </p:txBody>
      </p:sp>
      <p:sp>
        <p:nvSpPr>
          <p:cNvPr id="3" name="Content Placeholder 2">
            <a:extLst>
              <a:ext uri="{FF2B5EF4-FFF2-40B4-BE49-F238E27FC236}">
                <a16:creationId xmlns:a16="http://schemas.microsoft.com/office/drawing/2014/main" id="{DCCF8023-4BFE-D11A-4A02-6CA5FC2CAFDE}"/>
              </a:ext>
            </a:extLst>
          </p:cNvPr>
          <p:cNvSpPr>
            <a:spLocks noGrp="1"/>
          </p:cNvSpPr>
          <p:nvPr>
            <p:ph idx="1"/>
          </p:nvPr>
        </p:nvSpPr>
        <p:spPr>
          <a:xfrm>
            <a:off x="210128" y="2513668"/>
            <a:ext cx="6042890" cy="3590174"/>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INCLUDE DUCT SIZE AS SHOWN (AXB)</a:t>
            </a:r>
          </a:p>
          <a:p>
            <a:pPr algn="just"/>
            <a:r>
              <a:rPr lang="en-US" sz="1900" dirty="0">
                <a:solidFill>
                  <a:prstClr val="black">
                    <a:hueOff val="0"/>
                    <a:satOff val="0"/>
                    <a:lumOff val="0"/>
                    <a:alphaOff val="0"/>
                  </a:prstClr>
                </a:solidFill>
                <a:latin typeface="Amasis MT Pro Medium" panose="02040604050005020304" pitchFamily="18" charset="0"/>
              </a:rPr>
              <a:t>ELBOWS ARE NOT REQUIRED IN RECTANGULAR DUCTS.</a:t>
            </a:r>
          </a:p>
          <a:p>
            <a:pPr algn="just"/>
            <a:r>
              <a:rPr lang="en-US" sz="1900" dirty="0">
                <a:solidFill>
                  <a:prstClr val="black">
                    <a:hueOff val="0"/>
                    <a:satOff val="0"/>
                    <a:lumOff val="0"/>
                    <a:alphaOff val="0"/>
                  </a:prstClr>
                </a:solidFill>
                <a:latin typeface="Amasis MT Pro Medium" panose="02040604050005020304" pitchFamily="18" charset="0"/>
              </a:rPr>
              <a:t>IF SIZES ARE GIVEN IN “MM”, THEN USE FROM TOOLBOX (RECT. DUCT m) TAG.</a:t>
            </a:r>
          </a:p>
          <a:p>
            <a:pPr algn="just"/>
            <a:r>
              <a:rPr lang="en-US" sz="1900" dirty="0">
                <a:solidFill>
                  <a:prstClr val="black">
                    <a:hueOff val="0"/>
                    <a:satOff val="0"/>
                    <a:lumOff val="0"/>
                    <a:alphaOff val="0"/>
                  </a:prstClr>
                </a:solidFill>
                <a:latin typeface="Amasis MT Pro Medium" panose="02040604050005020304" pitchFamily="18" charset="0"/>
              </a:rPr>
              <a:t>IF SIZES GIVEN IN  “INCHES” THEN USE FROM TOOLBOX (RECT. DUCT ft.) TAG.</a:t>
            </a:r>
          </a:p>
          <a:p>
            <a:pPr algn="just"/>
            <a:r>
              <a:rPr lang="en-US" sz="1900" dirty="0">
                <a:solidFill>
                  <a:prstClr val="black">
                    <a:hueOff val="0"/>
                    <a:satOff val="0"/>
                    <a:lumOff val="0"/>
                    <a:alphaOff val="0"/>
                  </a:prstClr>
                </a:solidFill>
                <a:latin typeface="Amasis MT Pro Medium" panose="02040604050005020304" pitchFamily="18" charset="0"/>
              </a:rPr>
              <a:t>IF T-VANE SYMBOL IS GIVEN, THEN USE THAT SYMBOL FROM TOOLBOX.</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504" y="2446415"/>
            <a:ext cx="5050731" cy="2531985"/>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9426" y="5127849"/>
            <a:ext cx="4960646" cy="908739"/>
          </a:xfrm>
          <a:prstGeom prst="rect">
            <a:avLst/>
          </a:prstGeom>
        </p:spPr>
      </p:pic>
    </p:spTree>
    <p:extLst>
      <p:ext uri="{BB962C8B-B14F-4D97-AF65-F5344CB8AC3E}">
        <p14:creationId xmlns:p14="http://schemas.microsoft.com/office/powerpoint/2010/main" val="156603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0D692A1-B89C-A546-0AE3-EA595B250AF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4C6597-074B-6804-035C-55494DD748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9F6FE50-D205-6BB4-98B7-E87813DCCE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E155E88-DB99-56A5-682C-B13480C9636C}"/>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QUICK NOTES</a:t>
            </a:r>
          </a:p>
        </p:txBody>
      </p:sp>
      <p:sp>
        <p:nvSpPr>
          <p:cNvPr id="3" name="Content Placeholder 2">
            <a:extLst>
              <a:ext uri="{FF2B5EF4-FFF2-40B4-BE49-F238E27FC236}">
                <a16:creationId xmlns:a16="http://schemas.microsoft.com/office/drawing/2014/main" id="{3C032152-0DEA-0619-6335-0BEC202AB04D}"/>
              </a:ext>
            </a:extLst>
          </p:cNvPr>
          <p:cNvSpPr>
            <a:spLocks noGrp="1"/>
          </p:cNvSpPr>
          <p:nvPr>
            <p:ph idx="1"/>
          </p:nvPr>
        </p:nvSpPr>
        <p:spPr>
          <a:xfrm>
            <a:off x="210128" y="2513668"/>
            <a:ext cx="11143672" cy="2444412"/>
          </a:xfrm>
        </p:spPr>
        <p:txBody>
          <a:bodyPr>
            <a:normAutofit fontScale="92500"/>
          </a:bodyPr>
          <a:lstStyle/>
          <a:p>
            <a:pPr algn="just"/>
            <a:r>
              <a:rPr lang="en-US" sz="1900" dirty="0">
                <a:solidFill>
                  <a:prstClr val="black">
                    <a:hueOff val="0"/>
                    <a:satOff val="0"/>
                    <a:lumOff val="0"/>
                    <a:alphaOff val="0"/>
                  </a:prstClr>
                </a:solidFill>
                <a:latin typeface="Amasis MT Pro Medium" panose="02040604050005020304" pitchFamily="18" charset="0"/>
              </a:rPr>
              <a:t>ADD CANEVAS TO UNITS EVEN IF NOT DENOTED OR MENTIONED</a:t>
            </a:r>
          </a:p>
          <a:p>
            <a:pPr algn="just"/>
            <a:r>
              <a:rPr lang="en-US" sz="1900" dirty="0">
                <a:solidFill>
                  <a:prstClr val="black">
                    <a:hueOff val="0"/>
                    <a:satOff val="0"/>
                    <a:lumOff val="0"/>
                    <a:alphaOff val="0"/>
                  </a:prstClr>
                </a:solidFill>
                <a:latin typeface="Amasis MT Pro Medium" panose="02040604050005020304" pitchFamily="18" charset="0"/>
              </a:rPr>
              <a:t>ADD MANUAL BALANCING DAMPER IN DUCT EVEN IF NOT GIVEN.</a:t>
            </a:r>
          </a:p>
          <a:p>
            <a:pPr algn="just"/>
            <a:r>
              <a:rPr lang="en-US" sz="1900" dirty="0">
                <a:solidFill>
                  <a:prstClr val="black">
                    <a:hueOff val="0"/>
                    <a:satOff val="0"/>
                    <a:lumOff val="0"/>
                    <a:alphaOff val="0"/>
                  </a:prstClr>
                </a:solidFill>
                <a:latin typeface="Amasis MT Pro Medium" panose="02040604050005020304" pitchFamily="18" charset="0"/>
              </a:rPr>
              <a:t>ADD FLEX DUCTS TO ERV WHICH ARE 10 FEET LONG EVEN IF NOT SHOWN ON PLAN</a:t>
            </a:r>
          </a:p>
          <a:p>
            <a:pPr algn="just"/>
            <a:r>
              <a:rPr lang="en-US" sz="1900" dirty="0">
                <a:solidFill>
                  <a:prstClr val="black">
                    <a:hueOff val="0"/>
                    <a:satOff val="0"/>
                    <a:lumOff val="0"/>
                    <a:alphaOff val="0"/>
                  </a:prstClr>
                </a:solidFill>
                <a:latin typeface="Amasis MT Pro Medium" panose="02040604050005020304" pitchFamily="18" charset="0"/>
              </a:rPr>
              <a:t>NO CANEVAS DUCTS CONNECTED TO KITCHEN HOOD AND DRYER IN UNITS</a:t>
            </a:r>
          </a:p>
          <a:p>
            <a:pPr algn="just"/>
            <a:r>
              <a:rPr lang="en-US" sz="1900" dirty="0">
                <a:solidFill>
                  <a:prstClr val="black">
                    <a:hueOff val="0"/>
                    <a:satOff val="0"/>
                    <a:lumOff val="0"/>
                    <a:alphaOff val="0"/>
                  </a:prstClr>
                </a:solidFill>
                <a:latin typeface="Amasis MT Pro Medium" panose="02040604050005020304" pitchFamily="18" charset="0"/>
              </a:rPr>
              <a:t>WHEN ENTERING RECTANGULAR DUCT SIZE IN VJR EXCEL, ENSURE THAT THE VALUE OF DUCT SIZE IS ON LEFT SIDE IS ALWAYS GREATER THAN VALUE ON RIGHT SIDE AS SHOWN IN IMAGE</a:t>
            </a:r>
          </a:p>
          <a:p>
            <a:pPr algn="just"/>
            <a:endParaRPr lang="en-US" sz="1900" dirty="0">
              <a:solidFill>
                <a:prstClr val="black">
                  <a:hueOff val="0"/>
                  <a:satOff val="0"/>
                  <a:lumOff val="0"/>
                  <a:alphaOff val="0"/>
                </a:prstClr>
              </a:solidFill>
              <a:latin typeface="Amasis MT Pro Medium" panose="02040604050005020304" pitchFamily="18" charset="0"/>
            </a:endParaRPr>
          </a:p>
        </p:txBody>
      </p:sp>
      <p:pic>
        <p:nvPicPr>
          <p:cNvPr id="5" name="Picture 4">
            <a:extLst>
              <a:ext uri="{FF2B5EF4-FFF2-40B4-BE49-F238E27FC236}">
                <a16:creationId xmlns:a16="http://schemas.microsoft.com/office/drawing/2014/main" id="{0B6D0E72-446C-B757-E867-FA99693D90CB}"/>
              </a:ext>
            </a:extLst>
          </p:cNvPr>
          <p:cNvPicPr>
            <a:picLocks noChangeAspect="1"/>
          </p:cNvPicPr>
          <p:nvPr/>
        </p:nvPicPr>
        <p:blipFill>
          <a:blip r:embed="rId2"/>
          <a:stretch>
            <a:fillRect/>
          </a:stretch>
        </p:blipFill>
        <p:spPr>
          <a:xfrm>
            <a:off x="386928" y="5124333"/>
            <a:ext cx="4781126" cy="734599"/>
          </a:xfrm>
          <a:prstGeom prst="rect">
            <a:avLst/>
          </a:prstGeom>
        </p:spPr>
      </p:pic>
      <p:pic>
        <p:nvPicPr>
          <p:cNvPr id="7" name="Picture 6">
            <a:extLst>
              <a:ext uri="{FF2B5EF4-FFF2-40B4-BE49-F238E27FC236}">
                <a16:creationId xmlns:a16="http://schemas.microsoft.com/office/drawing/2014/main" id="{220748D3-3EF4-C2CE-BABD-58DC0AE4F54C}"/>
              </a:ext>
            </a:extLst>
          </p:cNvPr>
          <p:cNvPicPr>
            <a:picLocks noChangeAspect="1"/>
          </p:cNvPicPr>
          <p:nvPr/>
        </p:nvPicPr>
        <p:blipFill>
          <a:blip r:embed="rId3"/>
          <a:stretch>
            <a:fillRect/>
          </a:stretch>
        </p:blipFill>
        <p:spPr>
          <a:xfrm>
            <a:off x="5920742" y="5173441"/>
            <a:ext cx="5998416" cy="734599"/>
          </a:xfrm>
          <a:prstGeom prst="rect">
            <a:avLst/>
          </a:prstGeom>
        </p:spPr>
      </p:pic>
      <p:sp>
        <p:nvSpPr>
          <p:cNvPr id="13" name="TextBox 12">
            <a:extLst>
              <a:ext uri="{FF2B5EF4-FFF2-40B4-BE49-F238E27FC236}">
                <a16:creationId xmlns:a16="http://schemas.microsoft.com/office/drawing/2014/main" id="{17BBB712-61BD-B828-8C7B-13EE8232A69A}"/>
              </a:ext>
            </a:extLst>
          </p:cNvPr>
          <p:cNvSpPr txBox="1"/>
          <p:nvPr/>
        </p:nvSpPr>
        <p:spPr>
          <a:xfrm>
            <a:off x="1894071" y="6087447"/>
            <a:ext cx="1273105" cy="369332"/>
          </a:xfrm>
          <a:prstGeom prst="rect">
            <a:avLst/>
          </a:prstGeom>
          <a:noFill/>
        </p:spPr>
        <p:txBody>
          <a:bodyPr wrap="none" rtlCol="0">
            <a:spAutoFit/>
          </a:bodyPr>
          <a:lstStyle/>
          <a:p>
            <a:r>
              <a:rPr lang="en-US" dirty="0">
                <a:solidFill>
                  <a:prstClr val="black">
                    <a:hueOff val="0"/>
                    <a:satOff val="0"/>
                    <a:lumOff val="0"/>
                    <a:alphaOff val="0"/>
                  </a:prstClr>
                </a:solidFill>
                <a:latin typeface="Amasis MT Pro Medium" panose="02040604050005020304" pitchFamily="18" charset="0"/>
              </a:rPr>
              <a:t>CORRECT</a:t>
            </a:r>
            <a:endParaRPr lang="en-US" dirty="0"/>
          </a:p>
        </p:txBody>
      </p:sp>
      <p:sp>
        <p:nvSpPr>
          <p:cNvPr id="15" name="TextBox 14">
            <a:extLst>
              <a:ext uri="{FF2B5EF4-FFF2-40B4-BE49-F238E27FC236}">
                <a16:creationId xmlns:a16="http://schemas.microsoft.com/office/drawing/2014/main" id="{A686EF0A-F348-104E-572F-951DBACEAA3D}"/>
              </a:ext>
            </a:extLst>
          </p:cNvPr>
          <p:cNvSpPr txBox="1"/>
          <p:nvPr/>
        </p:nvSpPr>
        <p:spPr>
          <a:xfrm>
            <a:off x="7816991" y="6123401"/>
            <a:ext cx="1526380" cy="369332"/>
          </a:xfrm>
          <a:prstGeom prst="rect">
            <a:avLst/>
          </a:prstGeom>
          <a:noFill/>
        </p:spPr>
        <p:txBody>
          <a:bodyPr wrap="none" rtlCol="0">
            <a:spAutoFit/>
          </a:bodyPr>
          <a:lstStyle/>
          <a:p>
            <a:r>
              <a:rPr lang="en-US" dirty="0">
                <a:solidFill>
                  <a:prstClr val="black">
                    <a:hueOff val="0"/>
                    <a:satOff val="0"/>
                    <a:lumOff val="0"/>
                    <a:alphaOff val="0"/>
                  </a:prstClr>
                </a:solidFill>
                <a:latin typeface="Amasis MT Pro Medium" panose="02040604050005020304" pitchFamily="18" charset="0"/>
              </a:rPr>
              <a:t>INCORRECT</a:t>
            </a:r>
            <a:endParaRPr lang="en-US" dirty="0"/>
          </a:p>
        </p:txBody>
      </p:sp>
    </p:spTree>
    <p:extLst>
      <p:ext uri="{BB962C8B-B14F-4D97-AF65-F5344CB8AC3E}">
        <p14:creationId xmlns:p14="http://schemas.microsoft.com/office/powerpoint/2010/main" val="2434241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3CAE25F-B7B8-5A9D-DA0F-B42A7FDCB9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F17F4-B1A4-2E36-9315-B99BF1B3DA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23E1B1C-253C-2BE1-D7C6-D33BFCDF68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CEA7925-DB59-6CC5-779C-B41A80DD1F2C}"/>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QUICK NOTES</a:t>
            </a:r>
          </a:p>
        </p:txBody>
      </p:sp>
      <p:sp>
        <p:nvSpPr>
          <p:cNvPr id="3" name="Content Placeholder 2">
            <a:extLst>
              <a:ext uri="{FF2B5EF4-FFF2-40B4-BE49-F238E27FC236}">
                <a16:creationId xmlns:a16="http://schemas.microsoft.com/office/drawing/2014/main" id="{AD5A0FFA-CE24-08AD-5636-C76DAD285364}"/>
              </a:ext>
            </a:extLst>
          </p:cNvPr>
          <p:cNvSpPr>
            <a:spLocks noGrp="1"/>
          </p:cNvSpPr>
          <p:nvPr>
            <p:ph idx="1"/>
          </p:nvPr>
        </p:nvSpPr>
        <p:spPr>
          <a:xfrm>
            <a:off x="210128" y="2513668"/>
            <a:ext cx="11143672" cy="1122911"/>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FOR CERTAIN PROJECTS AS SHOWN IN ATTACHED IMAGE, THE SPECIFICATION FOR DUCT CONNECTED TO KITCHEN HOOD AS INSTRUCTED CAN BE INTERPRETED AS A RECTANGULAR DUCT WITH </a:t>
            </a:r>
            <a:r>
              <a:rPr lang="en-US" sz="1900" b="1" u="sng" dirty="0">
                <a:solidFill>
                  <a:prstClr val="black">
                    <a:hueOff val="0"/>
                    <a:satOff val="0"/>
                    <a:lumOff val="0"/>
                    <a:alphaOff val="0"/>
                  </a:prstClr>
                </a:solidFill>
                <a:latin typeface="Amasis MT Pro Medium" panose="02040604050005020304" pitchFamily="18" charset="0"/>
              </a:rPr>
              <a:t>CODES</a:t>
            </a:r>
            <a:r>
              <a:rPr lang="en-US" sz="1900" dirty="0">
                <a:solidFill>
                  <a:prstClr val="black">
                    <a:hueOff val="0"/>
                    <a:satOff val="0"/>
                    <a:lumOff val="0"/>
                    <a:alphaOff val="0"/>
                  </a:prstClr>
                </a:solidFill>
                <a:latin typeface="Amasis MT Pro Medium" panose="02040604050005020304" pitchFamily="18" charset="0"/>
              </a:rPr>
              <a:t>: 6, </a:t>
            </a:r>
            <a:r>
              <a:rPr lang="en-US" sz="1900" b="1" u="sng" dirty="0">
                <a:solidFill>
                  <a:prstClr val="black">
                    <a:hueOff val="0"/>
                    <a:satOff val="0"/>
                    <a:lumOff val="0"/>
                    <a:alphaOff val="0"/>
                  </a:prstClr>
                </a:solidFill>
                <a:latin typeface="Amasis MT Pro Medium" panose="02040604050005020304" pitchFamily="18" charset="0"/>
              </a:rPr>
              <a:t>TYPE</a:t>
            </a:r>
            <a:r>
              <a:rPr lang="en-US" sz="1900" dirty="0">
                <a:solidFill>
                  <a:prstClr val="black">
                    <a:hueOff val="0"/>
                    <a:satOff val="0"/>
                    <a:lumOff val="0"/>
                    <a:alphaOff val="0"/>
                  </a:prstClr>
                </a:solidFill>
                <a:latin typeface="Amasis MT Pro Medium" panose="02040604050005020304" pitchFamily="18" charset="0"/>
              </a:rPr>
              <a:t>: N AND </a:t>
            </a:r>
            <a:r>
              <a:rPr lang="en-US" sz="1900" b="1" u="sng" dirty="0">
                <a:solidFill>
                  <a:prstClr val="black">
                    <a:hueOff val="0"/>
                    <a:satOff val="0"/>
                    <a:lumOff val="0"/>
                    <a:alphaOff val="0"/>
                  </a:prstClr>
                </a:solidFill>
                <a:latin typeface="Amasis MT Pro Medium" panose="02040604050005020304" pitchFamily="18" charset="0"/>
              </a:rPr>
              <a:t>INSTALLATION</a:t>
            </a:r>
            <a:r>
              <a:rPr lang="en-US" sz="1900" dirty="0">
                <a:solidFill>
                  <a:prstClr val="black">
                    <a:hueOff val="0"/>
                    <a:satOff val="0"/>
                    <a:lumOff val="0"/>
                    <a:alphaOff val="0"/>
                  </a:prstClr>
                </a:solidFill>
                <a:latin typeface="Amasis MT Pro Medium" panose="02040604050005020304" pitchFamily="18" charset="0"/>
              </a:rPr>
              <a:t>:16.</a:t>
            </a:r>
          </a:p>
          <a:p>
            <a:pPr algn="just"/>
            <a:endParaRPr lang="en-US" sz="1900" dirty="0">
              <a:solidFill>
                <a:prstClr val="black">
                  <a:hueOff val="0"/>
                  <a:satOff val="0"/>
                  <a:lumOff val="0"/>
                  <a:alphaOff val="0"/>
                </a:prstClr>
              </a:solidFill>
              <a:latin typeface="Amasis MT Pro Medium" panose="02040604050005020304" pitchFamily="18" charset="0"/>
            </a:endParaRPr>
          </a:p>
          <a:p>
            <a:pPr algn="just"/>
            <a:endParaRPr lang="en-US" sz="1900" dirty="0">
              <a:solidFill>
                <a:prstClr val="black">
                  <a:hueOff val="0"/>
                  <a:satOff val="0"/>
                  <a:lumOff val="0"/>
                  <a:alphaOff val="0"/>
                </a:prstClr>
              </a:solidFill>
              <a:latin typeface="Amasis MT Pro Medium" panose="02040604050005020304" pitchFamily="18" charset="0"/>
            </a:endParaRPr>
          </a:p>
        </p:txBody>
      </p:sp>
      <p:pic>
        <p:nvPicPr>
          <p:cNvPr id="6" name="Picture 5">
            <a:extLst>
              <a:ext uri="{FF2B5EF4-FFF2-40B4-BE49-F238E27FC236}">
                <a16:creationId xmlns:a16="http://schemas.microsoft.com/office/drawing/2014/main" id="{7289FDEB-B405-EEA5-08FA-8EDAB67E2088}"/>
              </a:ext>
            </a:extLst>
          </p:cNvPr>
          <p:cNvPicPr>
            <a:picLocks noChangeAspect="1"/>
          </p:cNvPicPr>
          <p:nvPr/>
        </p:nvPicPr>
        <p:blipFill>
          <a:blip r:embed="rId2"/>
          <a:stretch>
            <a:fillRect/>
          </a:stretch>
        </p:blipFill>
        <p:spPr>
          <a:xfrm>
            <a:off x="210128" y="3802833"/>
            <a:ext cx="11856059" cy="2044805"/>
          </a:xfrm>
          <a:prstGeom prst="rect">
            <a:avLst/>
          </a:prstGeom>
        </p:spPr>
      </p:pic>
    </p:spTree>
    <p:extLst>
      <p:ext uri="{BB962C8B-B14F-4D97-AF65-F5344CB8AC3E}">
        <p14:creationId xmlns:p14="http://schemas.microsoft.com/office/powerpoint/2010/main" val="3228602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6000" b="1" u="sng" dirty="0">
                <a:solidFill>
                  <a:schemeClr val="bg1"/>
                </a:solidFill>
                <a:latin typeface="Amasis MT Pro Medium" panose="02040604050005020304" pitchFamily="18" charset="0"/>
              </a:rPr>
              <a:t>T-VANE</a:t>
            </a:r>
            <a:endParaRPr lang="en-US" sz="60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CF8023-4BFE-D11A-4A02-6CA5FC2CAFDE}"/>
              </a:ext>
            </a:extLst>
          </p:cNvPr>
          <p:cNvSpPr>
            <a:spLocks noGrp="1"/>
          </p:cNvSpPr>
          <p:nvPr>
            <p:ph idx="1"/>
          </p:nvPr>
        </p:nvSpPr>
        <p:spPr>
          <a:xfrm>
            <a:off x="228601" y="2608803"/>
            <a:ext cx="6218381" cy="3590174"/>
          </a:xfrm>
        </p:spPr>
        <p:txBody>
          <a:bodyPr>
            <a:normAutofit fontScale="55000" lnSpcReduction="20000"/>
          </a:bodyPr>
          <a:lstStyle/>
          <a:p>
            <a:pPr algn="just"/>
            <a:endParaRPr lang="en-US" sz="3000" dirty="0">
              <a:solidFill>
                <a:schemeClr val="accent6"/>
              </a:solidFill>
              <a:latin typeface="Amasis MT Pro Medium" panose="02040604050005020304" pitchFamily="18" charset="0"/>
            </a:endParaRPr>
          </a:p>
          <a:p>
            <a:pPr algn="just"/>
            <a:r>
              <a:rPr lang="en-US" sz="3800" dirty="0">
                <a:solidFill>
                  <a:schemeClr val="accent6"/>
                </a:solidFill>
                <a:latin typeface="Amasis MT Pro Medium" panose="02040604050005020304" pitchFamily="18" charset="0"/>
              </a:rPr>
              <a:t>TURNING VANES:</a:t>
            </a:r>
          </a:p>
          <a:p>
            <a:pPr algn="just"/>
            <a:endParaRPr lang="en-US" sz="3800" dirty="0">
              <a:solidFill>
                <a:prstClr val="black">
                  <a:hueOff val="0"/>
                  <a:satOff val="0"/>
                  <a:lumOff val="0"/>
                  <a:alphaOff val="0"/>
                </a:prstClr>
              </a:solidFill>
              <a:latin typeface="Amasis MT Pro Medium" panose="02040604050005020304" pitchFamily="18" charset="0"/>
            </a:endParaRPr>
          </a:p>
          <a:p>
            <a:pPr algn="just"/>
            <a:r>
              <a:rPr lang="en-US" sz="3300" dirty="0">
                <a:solidFill>
                  <a:prstClr val="black">
                    <a:hueOff val="0"/>
                    <a:satOff val="0"/>
                    <a:lumOff val="0"/>
                    <a:alphaOff val="0"/>
                  </a:prstClr>
                </a:solidFill>
                <a:latin typeface="Amasis MT Pro Medium" panose="02040604050005020304" pitchFamily="18" charset="0"/>
              </a:rPr>
              <a:t>USED FOR SMOOTH AIRFLOW AND REDUCED</a:t>
            </a:r>
            <a:br>
              <a:rPr lang="en-US" sz="3300" dirty="0">
                <a:solidFill>
                  <a:prstClr val="black">
                    <a:hueOff val="0"/>
                    <a:satOff val="0"/>
                    <a:lumOff val="0"/>
                    <a:alphaOff val="0"/>
                  </a:prstClr>
                </a:solidFill>
                <a:latin typeface="Amasis MT Pro Medium" panose="02040604050005020304" pitchFamily="18" charset="0"/>
              </a:rPr>
            </a:br>
            <a:r>
              <a:rPr lang="en-US" sz="3300" dirty="0">
                <a:solidFill>
                  <a:prstClr val="black">
                    <a:hueOff val="0"/>
                    <a:satOff val="0"/>
                    <a:lumOff val="0"/>
                    <a:alphaOff val="0"/>
                  </a:prstClr>
                </a:solidFill>
                <a:latin typeface="Amasis MT Pro Medium" panose="02040604050005020304" pitchFamily="18" charset="0"/>
              </a:rPr>
              <a:t>RESISTANCE IN THE DUCT.</a:t>
            </a:r>
          </a:p>
          <a:p>
            <a:pPr algn="just"/>
            <a:r>
              <a:rPr lang="en-US" sz="3300" dirty="0">
                <a:solidFill>
                  <a:prstClr val="black">
                    <a:hueOff val="0"/>
                    <a:satOff val="0"/>
                    <a:lumOff val="0"/>
                    <a:alphaOff val="0"/>
                  </a:prstClr>
                </a:solidFill>
                <a:latin typeface="Amasis MT Pro Medium" panose="02040604050005020304" pitchFamily="18" charset="0"/>
              </a:rPr>
              <a:t>ADD T-VANE SYMBOL WITH DUCT SIZE FOR BOTH 90- AND 45-DEGREE TURN</a:t>
            </a:r>
          </a:p>
          <a:p>
            <a:pPr algn="just"/>
            <a:r>
              <a:rPr lang="en-US" sz="3300" dirty="0">
                <a:solidFill>
                  <a:prstClr val="black">
                    <a:hueOff val="0"/>
                    <a:satOff val="0"/>
                    <a:lumOff val="0"/>
                    <a:alphaOff val="0"/>
                  </a:prstClr>
                </a:solidFill>
                <a:latin typeface="Amasis MT Pro Medium" panose="02040604050005020304" pitchFamily="18" charset="0"/>
              </a:rPr>
              <a:t>THIS IS ONLY FOR A </a:t>
            </a:r>
            <a:r>
              <a:rPr lang="en-US" sz="3300" dirty="0">
                <a:solidFill>
                  <a:schemeClr val="accent6"/>
                </a:solidFill>
                <a:latin typeface="Amasis MT Pro Medium" panose="02040604050005020304" pitchFamily="18" charset="0"/>
              </a:rPr>
              <a:t>RECTANGULAR DUCT.</a:t>
            </a:r>
          </a:p>
          <a:p>
            <a:pPr algn="just"/>
            <a:r>
              <a:rPr lang="en-US" sz="3300" dirty="0">
                <a:solidFill>
                  <a:prstClr val="black">
                    <a:hueOff val="0"/>
                    <a:satOff val="0"/>
                    <a:lumOff val="0"/>
                    <a:alphaOff val="0"/>
                  </a:prstClr>
                </a:solidFill>
                <a:latin typeface="Amasis MT Pro Medium" panose="02040604050005020304" pitchFamily="18" charset="0"/>
              </a:rPr>
              <a:t>INCLUDE DUCT SIZE (X”/X mm)</a:t>
            </a:r>
            <a:endParaRPr lang="en-US" sz="3300" dirty="0">
              <a:latin typeface="Amasis MT Pro Medium" panose="02040604050005020304" pitchFamily="18" charset="0"/>
            </a:endParaRPr>
          </a:p>
          <a:p>
            <a:pPr marL="0" indent="0">
              <a:buNone/>
            </a:pPr>
            <a:r>
              <a:rPr lang="en-US" dirty="0"/>
              <a:t>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137" y="2347414"/>
            <a:ext cx="1832617" cy="2084382"/>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185" y="4598960"/>
            <a:ext cx="4875444" cy="1600017"/>
          </a:xfrm>
          <a:prstGeom prst="rect">
            <a:avLst/>
          </a:prstGeom>
        </p:spPr>
      </p:pic>
    </p:spTree>
    <p:extLst>
      <p:ext uri="{BB962C8B-B14F-4D97-AF65-F5344CB8AC3E}">
        <p14:creationId xmlns:p14="http://schemas.microsoft.com/office/powerpoint/2010/main" val="2295494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6CAA692-25C2-0726-F677-BC2A83C7BB3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B14249-3E48-DFDE-FA9A-F04E0AC544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06DBF9-85F5-967D-CDD3-D314734B46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D1BA3F9-15A5-F54F-A738-F1CCBE1D3893}"/>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SPIRAL DUCT TAGGING</a:t>
            </a:r>
          </a:p>
        </p:txBody>
      </p:sp>
      <p:sp>
        <p:nvSpPr>
          <p:cNvPr id="3" name="Content Placeholder 2">
            <a:extLst>
              <a:ext uri="{FF2B5EF4-FFF2-40B4-BE49-F238E27FC236}">
                <a16:creationId xmlns:a16="http://schemas.microsoft.com/office/drawing/2014/main" id="{67CB119F-A9F6-1106-26E1-27224B262089}"/>
              </a:ext>
            </a:extLst>
          </p:cNvPr>
          <p:cNvSpPr>
            <a:spLocks noGrp="1"/>
          </p:cNvSpPr>
          <p:nvPr>
            <p:ph idx="1"/>
          </p:nvPr>
        </p:nvSpPr>
        <p:spPr>
          <a:xfrm>
            <a:off x="431800" y="2586789"/>
            <a:ext cx="5885873" cy="3590174"/>
          </a:xfrm>
        </p:spPr>
        <p:txBody>
          <a:bodyPr>
            <a:normAutofit/>
          </a:bodyPr>
          <a:lstStyle/>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DUCT LENGTH AND DIAMETER</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GIVE DUCT SIZE </a:t>
            </a:r>
            <a:r>
              <a:rPr lang="en-US" sz="1900" dirty="0">
                <a:solidFill>
                  <a:schemeClr val="accent6"/>
                </a:solidFill>
                <a:latin typeface="Amasis MT Pro Medium" panose="02040604050005020304" pitchFamily="18" charset="0"/>
              </a:rPr>
              <a:t>(MM/ INCHES</a:t>
            </a:r>
            <a:r>
              <a:rPr lang="en-US" sz="1900" dirty="0">
                <a:solidFill>
                  <a:prstClr val="black">
                    <a:hueOff val="0"/>
                    <a:satOff val="0"/>
                    <a:lumOff val="0"/>
                    <a:alphaOff val="0"/>
                  </a:prstClr>
                </a:solidFill>
                <a:latin typeface="Amasis MT Pro Medium" panose="02040604050005020304" pitchFamily="18" charset="0"/>
              </a:rPr>
              <a:t>)</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TAG DUCTS AS SHOWN:</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DUCT SIZE (DIA.) AS SHOWN (A”)</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ELBOWS IF GIVEN: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041" y="2480231"/>
            <a:ext cx="5288305" cy="1574533"/>
          </a:xfrm>
          <a:prstGeom prst="rect">
            <a:avLst/>
          </a:prstGeom>
        </p:spPr>
      </p:pic>
    </p:spTree>
    <p:extLst>
      <p:ext uri="{BB962C8B-B14F-4D97-AF65-F5344CB8AC3E}">
        <p14:creationId xmlns:p14="http://schemas.microsoft.com/office/powerpoint/2010/main" val="859214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D3D3036-273B-57BB-135C-BD24D45379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941B91-D504-568D-A239-9B4B6FB6DA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1469AF0-7E7E-04A6-B60D-CF2179870A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6213792-C41C-73EC-2977-EAE25F246011}"/>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ELBOWS TAGGING</a:t>
            </a:r>
          </a:p>
        </p:txBody>
      </p:sp>
      <p:sp>
        <p:nvSpPr>
          <p:cNvPr id="3" name="Content Placeholder 2">
            <a:extLst>
              <a:ext uri="{FF2B5EF4-FFF2-40B4-BE49-F238E27FC236}">
                <a16:creationId xmlns:a16="http://schemas.microsoft.com/office/drawing/2014/main" id="{9742F50B-A339-5EC6-06B1-DC7F0630C285}"/>
              </a:ext>
            </a:extLst>
          </p:cNvPr>
          <p:cNvSpPr>
            <a:spLocks noGrp="1"/>
          </p:cNvSpPr>
          <p:nvPr>
            <p:ph idx="1"/>
          </p:nvPr>
        </p:nvSpPr>
        <p:spPr>
          <a:xfrm>
            <a:off x="394854" y="2448244"/>
            <a:ext cx="5811982" cy="3590174"/>
          </a:xfrm>
        </p:spPr>
        <p:txBody>
          <a:bodyPr>
            <a:normAutofit fontScale="25000" lnSpcReduction="20000"/>
          </a:bodyPr>
          <a:lstStyle/>
          <a:p>
            <a:pPr marL="0" indent="0" algn="just">
              <a:buNone/>
            </a:pPr>
            <a:r>
              <a:rPr lang="en-US" sz="9600" dirty="0">
                <a:solidFill>
                  <a:schemeClr val="accent6"/>
                </a:solidFill>
                <a:latin typeface="Amasis MT Pro Medium" panose="02040604050005020304" pitchFamily="18" charset="0"/>
              </a:rPr>
              <a:t>TYPES: 45° ELBOW / 90° ELBOW</a:t>
            </a:r>
          </a:p>
          <a:p>
            <a:pPr algn="just"/>
            <a:endParaRPr lang="en-US" sz="7600" dirty="0">
              <a:solidFill>
                <a:prstClr val="black">
                  <a:hueOff val="0"/>
                  <a:satOff val="0"/>
                  <a:lumOff val="0"/>
                  <a:alphaOff val="0"/>
                </a:prstClr>
              </a:solidFill>
              <a:latin typeface="Amasis MT Pro Medium" panose="02040604050005020304" pitchFamily="18" charset="0"/>
            </a:endParaRPr>
          </a:p>
          <a:p>
            <a:pPr algn="just"/>
            <a:r>
              <a:rPr lang="en-US" sz="7600" dirty="0">
                <a:solidFill>
                  <a:prstClr val="black">
                    <a:hueOff val="0"/>
                    <a:satOff val="0"/>
                    <a:lumOff val="0"/>
                    <a:alphaOff val="0"/>
                  </a:prstClr>
                </a:solidFill>
                <a:latin typeface="Amasis MT Pro Medium" panose="02040604050005020304" pitchFamily="18" charset="0"/>
              </a:rPr>
              <a:t>ELBOWS ARE USED ONLY FOR SPIRAL DUCTS.</a:t>
            </a:r>
          </a:p>
          <a:p>
            <a:pPr algn="just"/>
            <a:r>
              <a:rPr lang="en-US" sz="7600" dirty="0">
                <a:solidFill>
                  <a:prstClr val="black">
                    <a:hueOff val="0"/>
                    <a:satOff val="0"/>
                    <a:lumOff val="0"/>
                    <a:alphaOff val="0"/>
                  </a:prstClr>
                </a:solidFill>
                <a:latin typeface="Amasis MT Pro Medium" panose="02040604050005020304" pitchFamily="18" charset="0"/>
              </a:rPr>
              <a:t>TAG 45° AND 90° ELBOWS IF SPECIFIED IN THE DUCT LAYOUT, AND USE SEPARATE SYMBOLS FOR EACH.</a:t>
            </a:r>
          </a:p>
          <a:p>
            <a:pPr algn="just"/>
            <a:r>
              <a:rPr lang="en-US" sz="7600" dirty="0">
                <a:solidFill>
                  <a:prstClr val="black">
                    <a:hueOff val="0"/>
                    <a:satOff val="0"/>
                    <a:lumOff val="0"/>
                    <a:alphaOff val="0"/>
                  </a:prstClr>
                </a:solidFill>
                <a:latin typeface="Amasis MT Pro Medium" panose="02040604050005020304" pitchFamily="18" charset="0"/>
              </a:rPr>
              <a:t>90° ELBOW: USE WHEN THE DUCT CHANGES DIRECTION PERPENDICULARLY.</a:t>
            </a:r>
          </a:p>
          <a:p>
            <a:pPr algn="just"/>
            <a:r>
              <a:rPr lang="en-US" sz="7600" dirty="0">
                <a:solidFill>
                  <a:prstClr val="black">
                    <a:hueOff val="0"/>
                    <a:satOff val="0"/>
                    <a:lumOff val="0"/>
                    <a:alphaOff val="0"/>
                  </a:prstClr>
                </a:solidFill>
                <a:latin typeface="Amasis MT Pro Medium" panose="02040604050005020304" pitchFamily="18" charset="0"/>
              </a:rPr>
              <a:t>45° ELBOW: USE WHEN THE DUCT CHANGES DIRECTION BY 45 DEGREES.</a:t>
            </a:r>
          </a:p>
          <a:p>
            <a:pPr algn="just"/>
            <a:r>
              <a:rPr lang="en-US" sz="7600" dirty="0">
                <a:solidFill>
                  <a:prstClr val="black">
                    <a:hueOff val="0"/>
                    <a:satOff val="0"/>
                    <a:lumOff val="0"/>
                    <a:alphaOff val="0"/>
                  </a:prstClr>
                </a:solidFill>
                <a:latin typeface="Amasis MT Pro Medium" panose="02040604050005020304" pitchFamily="18" charset="0"/>
              </a:rPr>
              <a:t>INCLUDE ONLY THE DUCT SIZE (X” / X MM).</a:t>
            </a:r>
          </a:p>
          <a:p>
            <a:pPr algn="just"/>
            <a:endParaRPr lang="en-US" sz="8000" dirty="0"/>
          </a:p>
          <a:p>
            <a:pPr marL="0" indent="0" algn="just">
              <a:buNone/>
            </a:pPr>
            <a:endParaRPr lang="en-US" sz="5000" dirty="0">
              <a:latin typeface="Times New Roman" panose="02020603050405020304" pitchFamily="18" charset="0"/>
              <a:cs typeface="Times New Roman" panose="02020603050405020304" pitchFamily="18" charset="0"/>
            </a:endParaRPr>
          </a:p>
          <a:p>
            <a:endParaRPr lang="en-US" sz="5000" dirty="0">
              <a:latin typeface="Times New Roman" panose="02020603050405020304" pitchFamily="18" charset="0"/>
              <a:cs typeface="Times New Roman" panose="02020603050405020304" pitchFamily="18" charset="0"/>
            </a:endParaRPr>
          </a:p>
          <a:p>
            <a:endParaRPr lang="en-US" sz="2000" dirty="0">
              <a:latin typeface="Amasis MT Pro Medium" panose="02040604050005020304" pitchFamily="18" charset="0"/>
            </a:endParaRPr>
          </a:p>
          <a:p>
            <a:pPr marL="0" indent="0">
              <a:buNone/>
            </a:pPr>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7963" y="4856883"/>
            <a:ext cx="5153313" cy="18216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0175" y="2347414"/>
            <a:ext cx="3368798" cy="2341858"/>
          </a:xfrm>
          <a:prstGeom prst="rect">
            <a:avLst/>
          </a:prstGeom>
        </p:spPr>
      </p:pic>
    </p:spTree>
    <p:extLst>
      <p:ext uri="{BB962C8B-B14F-4D97-AF65-F5344CB8AC3E}">
        <p14:creationId xmlns:p14="http://schemas.microsoft.com/office/powerpoint/2010/main" val="208270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7136088-7DF6-A967-7E4E-F04688B218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19C041-3555-26CA-5F24-700E75FACBB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541C75F-7402-1BC1-46BA-6330F86ED2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0F3E7B5-B9C7-4B1E-2840-0880863571B7}"/>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ELBOWS TAGGING</a:t>
            </a:r>
          </a:p>
        </p:txBody>
      </p:sp>
      <p:sp>
        <p:nvSpPr>
          <p:cNvPr id="3" name="Content Placeholder 2">
            <a:extLst>
              <a:ext uri="{FF2B5EF4-FFF2-40B4-BE49-F238E27FC236}">
                <a16:creationId xmlns:a16="http://schemas.microsoft.com/office/drawing/2014/main" id="{84B435E2-BE97-9F4A-FA59-93B2028BD249}"/>
              </a:ext>
            </a:extLst>
          </p:cNvPr>
          <p:cNvSpPr>
            <a:spLocks noGrp="1"/>
          </p:cNvSpPr>
          <p:nvPr>
            <p:ph idx="1"/>
          </p:nvPr>
        </p:nvSpPr>
        <p:spPr>
          <a:xfrm>
            <a:off x="394854" y="2448244"/>
            <a:ext cx="5811982" cy="3590174"/>
          </a:xfrm>
        </p:spPr>
        <p:txBody>
          <a:bodyPr>
            <a:normAutofit/>
          </a:bodyPr>
          <a:lstStyle/>
          <a:p>
            <a:endParaRPr lang="en-US" sz="2700" dirty="0">
              <a:solidFill>
                <a:schemeClr val="accent6"/>
              </a:solidFill>
              <a:latin typeface="Amasis MT Pro Medium" panose="02040604050005020304" pitchFamily="18" charset="0"/>
            </a:endParaRPr>
          </a:p>
          <a:p>
            <a:r>
              <a:rPr lang="en-US" sz="2700" dirty="0">
                <a:solidFill>
                  <a:schemeClr val="accent6"/>
                </a:solidFill>
                <a:latin typeface="Amasis MT Pro Medium" panose="02040604050005020304" pitchFamily="18" charset="0"/>
              </a:rPr>
              <a:t>Y-TYPE DUCT</a:t>
            </a:r>
            <a:endParaRPr lang="en-US" sz="2700" dirty="0">
              <a:solidFill>
                <a:prstClr val="black">
                  <a:hueOff val="0"/>
                  <a:satOff val="0"/>
                  <a:lumOff val="0"/>
                  <a:alphaOff val="0"/>
                </a:prstClr>
              </a:solidFill>
              <a:latin typeface="Amasis MT Pro Medium" panose="02040604050005020304" pitchFamily="18" charset="0"/>
            </a:endParaRPr>
          </a:p>
          <a:p>
            <a:pPr algn="just"/>
            <a:r>
              <a:rPr lang="en-US" sz="1900" dirty="0">
                <a:solidFill>
                  <a:prstClr val="black">
                    <a:hueOff val="0"/>
                    <a:satOff val="0"/>
                    <a:lumOff val="0"/>
                    <a:alphaOff val="0"/>
                  </a:prstClr>
                </a:solidFill>
                <a:latin typeface="Amasis MT Pro Medium" panose="02040604050005020304" pitchFamily="18" charset="0"/>
              </a:rPr>
              <a:t>PROVIDE TWO DUCTS TO CONNECT TO THE GIVEN DUCT, AND INCLUDE TWO 45° ELBOWS.</a:t>
            </a:r>
          </a:p>
          <a:p>
            <a:r>
              <a:rPr lang="en-US" sz="1900" dirty="0">
                <a:solidFill>
                  <a:prstClr val="black">
                    <a:hueOff val="0"/>
                    <a:satOff val="0"/>
                    <a:lumOff val="0"/>
                    <a:alphaOff val="0"/>
                  </a:prstClr>
                </a:solidFill>
                <a:latin typeface="Amasis MT Pro Medium" panose="02040604050005020304" pitchFamily="18" charset="0"/>
              </a:rPr>
              <a:t>GIVE DUCT SIZE OF EACH DUCT &amp; 45° ELBOWS.</a:t>
            </a:r>
            <a:endParaRPr lang="en-US" sz="19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11" name="Picture 10">
            <a:extLst>
              <a:ext uri="{FF2B5EF4-FFF2-40B4-BE49-F238E27FC236}">
                <a16:creationId xmlns:a16="http://schemas.microsoft.com/office/drawing/2014/main" id="{5539EBAA-66B8-B1FD-DA53-CD382EA7C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8743" y="2718312"/>
            <a:ext cx="4493502" cy="2119501"/>
          </a:xfrm>
          <a:prstGeom prst="rect">
            <a:avLst/>
          </a:prstGeom>
        </p:spPr>
      </p:pic>
    </p:spTree>
    <p:extLst>
      <p:ext uri="{BB962C8B-B14F-4D97-AF65-F5344CB8AC3E}">
        <p14:creationId xmlns:p14="http://schemas.microsoft.com/office/powerpoint/2010/main" val="294613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AF66E96-A4C2-5577-FEC9-FFCF646208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F8F02A-B8F9-476C-7DDD-8E143075BA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B5B967E-E006-38BE-7B40-4D70BF2A6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CFFD35A-12E3-696E-5BE8-D8E97247689E}"/>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FLEXIBLE DUCT</a:t>
            </a:r>
          </a:p>
        </p:txBody>
      </p:sp>
      <p:sp>
        <p:nvSpPr>
          <p:cNvPr id="3" name="Content Placeholder 2">
            <a:extLst>
              <a:ext uri="{FF2B5EF4-FFF2-40B4-BE49-F238E27FC236}">
                <a16:creationId xmlns:a16="http://schemas.microsoft.com/office/drawing/2014/main" id="{F9988933-0E06-F09A-3AAD-931F640D1432}"/>
              </a:ext>
            </a:extLst>
          </p:cNvPr>
          <p:cNvSpPr>
            <a:spLocks noGrp="1"/>
          </p:cNvSpPr>
          <p:nvPr>
            <p:ph idx="1"/>
          </p:nvPr>
        </p:nvSpPr>
        <p:spPr>
          <a:xfrm>
            <a:off x="5230241" y="2480428"/>
            <a:ext cx="6795503" cy="3590174"/>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MENTION ONLY THE DUCT SIZE (X” / X mm)</a:t>
            </a:r>
          </a:p>
          <a:p>
            <a:pPr algn="just"/>
            <a:r>
              <a:rPr lang="en-US" sz="1900" dirty="0">
                <a:solidFill>
                  <a:prstClr val="black">
                    <a:hueOff val="0"/>
                    <a:satOff val="0"/>
                    <a:lumOff val="0"/>
                    <a:alphaOff val="0"/>
                  </a:prstClr>
                </a:solidFill>
                <a:latin typeface="Amasis MT Pro Medium" panose="02040604050005020304" pitchFamily="18" charset="0"/>
              </a:rPr>
              <a:t>USED FOR FLEXIBILITY IN TIGHT SPACES AND FOR EFFICIENCY.</a:t>
            </a:r>
          </a:p>
          <a:p>
            <a:pPr algn="just"/>
            <a:r>
              <a:rPr lang="en-US" sz="1900" dirty="0">
                <a:solidFill>
                  <a:prstClr val="black">
                    <a:hueOff val="0"/>
                    <a:satOff val="0"/>
                    <a:lumOff val="0"/>
                    <a:alphaOff val="0"/>
                  </a:prstClr>
                </a:solidFill>
                <a:latin typeface="Amasis MT Pro Medium" panose="02040604050005020304" pitchFamily="18" charset="0"/>
              </a:rPr>
              <a:t>USE THIS SYMBOL FOR FLEX DUCTS.</a:t>
            </a:r>
          </a:p>
          <a:p>
            <a:pPr algn="just"/>
            <a:r>
              <a:rPr lang="en-US" sz="1900" dirty="0">
                <a:solidFill>
                  <a:prstClr val="black">
                    <a:hueOff val="0"/>
                    <a:satOff val="0"/>
                    <a:lumOff val="0"/>
                    <a:alphaOff val="0"/>
                  </a:prstClr>
                </a:solidFill>
                <a:latin typeface="Amasis MT Pro Medium" panose="02040604050005020304" pitchFamily="18" charset="0"/>
              </a:rPr>
              <a:t>IDENTIFY AND TAG FLEX DUCTS AS SHOWN:</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p:txBody>
      </p:sp>
      <p:pic>
        <p:nvPicPr>
          <p:cNvPr id="6" name="Picture 5">
            <a:extLst>
              <a:ext uri="{FF2B5EF4-FFF2-40B4-BE49-F238E27FC236}">
                <a16:creationId xmlns:a16="http://schemas.microsoft.com/office/drawing/2014/main" id="{33DC8860-91A5-565D-8C1C-452E05134C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96426" y="4653474"/>
            <a:ext cx="3031566" cy="19530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101" y="2480428"/>
            <a:ext cx="3174041" cy="2140734"/>
          </a:xfrm>
          <a:prstGeom prst="rect">
            <a:avLst/>
          </a:prstGeom>
        </p:spPr>
      </p:pic>
    </p:spTree>
    <p:extLst>
      <p:ext uri="{BB962C8B-B14F-4D97-AF65-F5344CB8AC3E}">
        <p14:creationId xmlns:p14="http://schemas.microsoft.com/office/powerpoint/2010/main" val="1171025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D77AD05-991E-9A19-6F11-31A99BB3E6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3D8209-1889-1886-8620-590CF4EA2CD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78501BF-13EB-49F1-3BB9-9FAE0AFC03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2F71FB24-29C4-7DCE-3A4D-B0535C2E54BB}"/>
              </a:ext>
            </a:extLst>
          </p:cNvPr>
          <p:cNvSpPr>
            <a:spLocks noGrp="1"/>
          </p:cNvSpPr>
          <p:nvPr>
            <p:ph type="title"/>
          </p:nvPr>
        </p:nvSpPr>
        <p:spPr/>
        <p:txBody>
          <a:bodyPr>
            <a:normAutofit/>
          </a:bodyPr>
          <a:lstStyle/>
          <a:p>
            <a:pPr algn="ctr"/>
            <a:r>
              <a:rPr lang="en-US" dirty="0">
                <a:solidFill>
                  <a:schemeClr val="bg1"/>
                </a:solidFill>
                <a:latin typeface="Amasis MT Pro Medium" panose="02040604050005020304" pitchFamily="18" charset="0"/>
              </a:rPr>
              <a:t>FLEXIBLE DUCT- CANEVAS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48E2C719-48AE-FA23-8425-EC97AA3B9CB9}"/>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44FEB006-A3E3-5250-4399-F0A8C18778F7}"/>
              </a:ext>
            </a:extLst>
          </p:cNvPr>
          <p:cNvSpPr>
            <a:spLocks noGrp="1"/>
          </p:cNvSpPr>
          <p:nvPr>
            <p:ph idx="1"/>
          </p:nvPr>
        </p:nvSpPr>
        <p:spPr>
          <a:xfrm>
            <a:off x="336605" y="2104960"/>
            <a:ext cx="6030678" cy="4110743"/>
          </a:xfrm>
        </p:spPr>
        <p:txBody>
          <a:bodyPr>
            <a:normAutofit/>
          </a:bodyPr>
          <a:lstStyle/>
          <a:p>
            <a:pPr marL="0" indent="0">
              <a:buNone/>
            </a:pPr>
            <a:r>
              <a:rPr lang="en-US" sz="2200" dirty="0">
                <a:solidFill>
                  <a:srgbClr val="0070C0"/>
                </a:solidFill>
                <a:latin typeface="Amasis MT Pro Medium" panose="02040604050005020304" pitchFamily="18" charset="0"/>
              </a:rPr>
              <a:t>CANEVAS:</a:t>
            </a:r>
          </a:p>
          <a:p>
            <a:pPr marL="0" indent="0">
              <a:buNone/>
            </a:pPr>
            <a:r>
              <a:rPr lang="en-US" sz="2000" dirty="0">
                <a:latin typeface="Amasis MT Pro Medium" panose="02040604050005020304" pitchFamily="18" charset="0"/>
              </a:rPr>
              <a:t>Canvas duct connectors isolate fan vibrations, suppress system noise, and prevent mechanical fatigue in HVAC setups. These flexible joints act as an airtight bridge between the rigid metal ductwork and moving equipment like centrifugal fans, axial fans, or heavy-duty industrial blower.</a:t>
            </a:r>
          </a:p>
          <a:p>
            <a:pPr marL="0" indent="0">
              <a:buNone/>
            </a:pPr>
            <a:r>
              <a:rPr lang="en-US" sz="2000" dirty="0" err="1">
                <a:latin typeface="Amasis MT Pro Medium" panose="02040604050005020304" pitchFamily="18" charset="0"/>
              </a:rPr>
              <a:t>Canevas</a:t>
            </a:r>
            <a:r>
              <a:rPr lang="en-US" sz="2000" dirty="0">
                <a:latin typeface="Amasis MT Pro Medium" panose="02040604050005020304" pitchFamily="18" charset="0"/>
              </a:rPr>
              <a:t> Accessory 8 in VJR Excel Chart is added to every duct directly connected to system(</a:t>
            </a:r>
            <a:r>
              <a:rPr lang="en-US" sz="2000" dirty="0" err="1">
                <a:latin typeface="Amasis MT Pro Medium" panose="02040604050005020304" pitchFamily="18" charset="0"/>
              </a:rPr>
              <a:t>Fan,AHU,RTU</a:t>
            </a:r>
            <a:r>
              <a:rPr lang="en-US" sz="2000" dirty="0">
                <a:latin typeface="Amasis MT Pro Medium" panose="02040604050005020304" pitchFamily="18" charset="0"/>
              </a:rPr>
              <a:t>)</a:t>
            </a:r>
          </a:p>
        </p:txBody>
      </p:sp>
      <p:pic>
        <p:nvPicPr>
          <p:cNvPr id="2" name="Picture 1">
            <a:extLst>
              <a:ext uri="{FF2B5EF4-FFF2-40B4-BE49-F238E27FC236}">
                <a16:creationId xmlns:a16="http://schemas.microsoft.com/office/drawing/2014/main" id="{12D07FB2-B855-14B5-3441-D0632467FB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r="41789" b="-1215"/>
          <a:stretch>
            <a:fillRect/>
          </a:stretch>
        </p:blipFill>
        <p:spPr bwMode="auto">
          <a:xfrm>
            <a:off x="9135261" y="2314383"/>
            <a:ext cx="2859801" cy="22292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ahalaxmi enterprise Rectangular Canvas Duct Connector For Hvac System, For  Industrial, Non at ₹ 6500/number in Ahmedabad">
            <a:extLst>
              <a:ext uri="{FF2B5EF4-FFF2-40B4-BE49-F238E27FC236}">
                <a16:creationId xmlns:a16="http://schemas.microsoft.com/office/drawing/2014/main" id="{3E1E241B-B12E-1B7D-E8F1-A3E965AD4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267" y="2155090"/>
            <a:ext cx="2028474" cy="4507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4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92C329B-00A4-1FA0-E332-E02E857FD4C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585881-4CD5-5230-8117-AEDE052FBC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285B10-B482-ADB4-5988-0E6D3F1884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BCA069BD-BE26-C161-5003-023923B123E4}"/>
              </a:ext>
            </a:extLst>
          </p:cNvPr>
          <p:cNvSpPr>
            <a:spLocks noGrp="1"/>
          </p:cNvSpPr>
          <p:nvPr>
            <p:ph type="title"/>
          </p:nvPr>
        </p:nvSpPr>
        <p:spPr/>
        <p:txBody>
          <a:bodyPr>
            <a:normAutofit/>
          </a:bodyPr>
          <a:lstStyle/>
          <a:p>
            <a:pPr algn="ctr"/>
            <a:r>
              <a:rPr lang="en-US" dirty="0">
                <a:solidFill>
                  <a:schemeClr val="bg1"/>
                </a:solidFill>
                <a:latin typeface="Amasis MT Pro Medium" panose="02040604050005020304" pitchFamily="18" charset="0"/>
              </a:rPr>
              <a:t>FLEXIBLE DUCT- ERV</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D6EC0E0E-E75B-8107-2800-CB3C654502B4}"/>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CEB8051C-8F40-5B7B-9F38-814CBD25DF8E}"/>
              </a:ext>
            </a:extLst>
          </p:cNvPr>
          <p:cNvSpPr>
            <a:spLocks noGrp="1"/>
          </p:cNvSpPr>
          <p:nvPr>
            <p:ph idx="1"/>
          </p:nvPr>
        </p:nvSpPr>
        <p:spPr>
          <a:xfrm>
            <a:off x="336605" y="2104960"/>
            <a:ext cx="6030678" cy="4110743"/>
          </a:xfrm>
        </p:spPr>
        <p:txBody>
          <a:bodyPr>
            <a:normAutofit/>
          </a:bodyPr>
          <a:lstStyle/>
          <a:p>
            <a:pPr marL="0" indent="0">
              <a:buNone/>
            </a:pPr>
            <a:r>
              <a:rPr lang="en-US" sz="2200" dirty="0">
                <a:solidFill>
                  <a:srgbClr val="0070C0"/>
                </a:solidFill>
                <a:latin typeface="Amasis MT Pro Medium" panose="02040604050005020304" pitchFamily="18" charset="0"/>
              </a:rPr>
              <a:t>NOTE:</a:t>
            </a:r>
          </a:p>
          <a:p>
            <a:pPr marL="0" indent="0">
              <a:buNone/>
            </a:pPr>
            <a:r>
              <a:rPr lang="en-US" sz="2000" dirty="0">
                <a:latin typeface="Amasis MT Pro Medium" panose="02040604050005020304" pitchFamily="18" charset="0"/>
              </a:rPr>
              <a:t>WHEN SPIRAL DUCTS ARE CONNECTED TO ERV AFTER CONFIRMING WITH CLIENT ADD FLEX DUCTS FOR CONNECTION.</a:t>
            </a:r>
          </a:p>
          <a:p>
            <a:pPr marL="0" indent="0">
              <a:buNone/>
            </a:pPr>
            <a:r>
              <a:rPr lang="en-US" sz="2000" dirty="0">
                <a:latin typeface="Amasis MT Pro Medium" panose="02040604050005020304" pitchFamily="18" charset="0"/>
              </a:rPr>
              <a:t>THE LENGTH OF THESE FLEX DUCTS IS 10 FEET EACH. </a:t>
            </a:r>
          </a:p>
        </p:txBody>
      </p:sp>
      <p:pic>
        <p:nvPicPr>
          <p:cNvPr id="4" name="Picture 3">
            <a:extLst>
              <a:ext uri="{FF2B5EF4-FFF2-40B4-BE49-F238E27FC236}">
                <a16:creationId xmlns:a16="http://schemas.microsoft.com/office/drawing/2014/main" id="{22A86266-434F-78D1-EC22-EA89168D7896}"/>
              </a:ext>
            </a:extLst>
          </p:cNvPr>
          <p:cNvPicPr>
            <a:picLocks noChangeAspect="1"/>
          </p:cNvPicPr>
          <p:nvPr/>
        </p:nvPicPr>
        <p:blipFill>
          <a:blip r:embed="rId2"/>
          <a:stretch>
            <a:fillRect/>
          </a:stretch>
        </p:blipFill>
        <p:spPr>
          <a:xfrm>
            <a:off x="6961478" y="2727903"/>
            <a:ext cx="4628244" cy="2252247"/>
          </a:xfrm>
          <a:prstGeom prst="rect">
            <a:avLst/>
          </a:prstGeom>
        </p:spPr>
      </p:pic>
    </p:spTree>
    <p:extLst>
      <p:ext uri="{BB962C8B-B14F-4D97-AF65-F5344CB8AC3E}">
        <p14:creationId xmlns:p14="http://schemas.microsoft.com/office/powerpoint/2010/main" val="1836422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8BC3A38-6B24-550D-39DE-372C79216A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198310-4D33-AEAA-A65E-AC0E5830A1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49D2203-0110-BB80-7C81-C77EED5669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128D776-708E-C2E4-42E7-BF28C56961AA}"/>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DUCT RISER</a:t>
            </a:r>
          </a:p>
        </p:txBody>
      </p:sp>
      <p:sp>
        <p:nvSpPr>
          <p:cNvPr id="3" name="Content Placeholder 2">
            <a:extLst>
              <a:ext uri="{FF2B5EF4-FFF2-40B4-BE49-F238E27FC236}">
                <a16:creationId xmlns:a16="http://schemas.microsoft.com/office/drawing/2014/main" id="{56BDFDB4-1397-FA8C-C3BF-32C94792FD56}"/>
              </a:ext>
            </a:extLst>
          </p:cNvPr>
          <p:cNvSpPr>
            <a:spLocks noGrp="1"/>
          </p:cNvSpPr>
          <p:nvPr>
            <p:ph idx="1"/>
          </p:nvPr>
        </p:nvSpPr>
        <p:spPr>
          <a:xfrm>
            <a:off x="138720" y="2347414"/>
            <a:ext cx="6237768" cy="4279528"/>
          </a:xfrm>
        </p:spPr>
        <p:txBody>
          <a:bodyPr>
            <a:normAutofit fontScale="92500" lnSpcReduction="20000"/>
          </a:bodyPr>
          <a:lstStyle/>
          <a:p>
            <a:pPr algn="just"/>
            <a:endParaRPr lang="en-US" sz="2400" dirty="0">
              <a:solidFill>
                <a:srgbClr val="0070C0"/>
              </a:solidFill>
              <a:latin typeface="Times New Roman" panose="02020603050405020304" pitchFamily="18" charset="0"/>
              <a:cs typeface="Times New Roman" panose="02020603050405020304" pitchFamily="18" charset="0"/>
            </a:endParaRPr>
          </a:p>
          <a:p>
            <a:pPr algn="just"/>
            <a:r>
              <a:rPr lang="en-US" sz="2400" dirty="0">
                <a:solidFill>
                  <a:schemeClr val="accent6"/>
                </a:solidFill>
                <a:latin typeface="Amasis MT Pro Medium" panose="02040604050005020304" pitchFamily="18" charset="0"/>
              </a:rPr>
              <a:t>WHAT IS RISER?</a:t>
            </a:r>
          </a:p>
          <a:p>
            <a:pPr algn="just"/>
            <a:r>
              <a:rPr lang="en-US" sz="1900" dirty="0">
                <a:solidFill>
                  <a:prstClr val="black">
                    <a:hueOff val="0"/>
                    <a:satOff val="0"/>
                    <a:lumOff val="0"/>
                    <a:alphaOff val="0"/>
                  </a:prstClr>
                </a:solidFill>
                <a:latin typeface="Amasis MT Pro Medium" panose="02040604050005020304" pitchFamily="18" charset="0"/>
              </a:rPr>
              <a:t>A DUCT RISER IS A VERTICAL AIR PASSAGE CONNECTING ONE FLOOR TO ANOTHER.</a:t>
            </a:r>
          </a:p>
          <a:p>
            <a:r>
              <a:rPr lang="en-US" sz="1900" dirty="0">
                <a:solidFill>
                  <a:prstClr val="black">
                    <a:hueOff val="0"/>
                    <a:satOff val="0"/>
                    <a:lumOff val="0"/>
                    <a:alphaOff val="0"/>
                  </a:prstClr>
                </a:solidFill>
                <a:latin typeface="Amasis MT Pro Medium" panose="02040604050005020304" pitchFamily="18" charset="0"/>
              </a:rPr>
              <a:t>PROVIDE A SEPARATE TAG FOR THE RISER.</a:t>
            </a:r>
          </a:p>
          <a:p>
            <a:r>
              <a:rPr lang="en-US" sz="1900" dirty="0">
                <a:solidFill>
                  <a:prstClr val="black">
                    <a:hueOff val="0"/>
                    <a:satOff val="0"/>
                    <a:lumOff val="0"/>
                    <a:alphaOff val="0"/>
                  </a:prstClr>
                </a:solidFill>
                <a:latin typeface="Amasis MT Pro Medium" panose="02040604050005020304" pitchFamily="18" charset="0"/>
              </a:rPr>
              <a:t>SPECIFY THE DUCT SIZE.</a:t>
            </a:r>
          </a:p>
          <a:p>
            <a:r>
              <a:rPr lang="en-US" sz="1900" dirty="0">
                <a:solidFill>
                  <a:prstClr val="black">
                    <a:hueOff val="0"/>
                    <a:satOff val="0"/>
                    <a:lumOff val="0"/>
                    <a:alphaOff val="0"/>
                  </a:prstClr>
                </a:solidFill>
                <a:latin typeface="Amasis MT Pro Medium" panose="02040604050005020304" pitchFamily="18" charset="0"/>
              </a:rPr>
              <a:t>CHECK THE SCOPE OF WORK FOR RISER DROP.</a:t>
            </a:r>
          </a:p>
          <a:p>
            <a:pPr algn="just"/>
            <a:endParaRPr lang="en-US" sz="1900" dirty="0">
              <a:solidFill>
                <a:prstClr val="black">
                  <a:hueOff val="0"/>
                  <a:satOff val="0"/>
                  <a:lumOff val="0"/>
                  <a:alphaOff val="0"/>
                </a:prstClr>
              </a:solidFill>
              <a:latin typeface="Amasis MT Pro Medium" panose="02040604050005020304" pitchFamily="18" charset="0"/>
            </a:endParaRPr>
          </a:p>
          <a:p>
            <a:pPr algn="just"/>
            <a:endParaRPr lang="en-US" sz="1900" dirty="0">
              <a:solidFill>
                <a:prstClr val="black">
                  <a:hueOff val="0"/>
                  <a:satOff val="0"/>
                  <a:lumOff val="0"/>
                  <a:alphaOff val="0"/>
                </a:prstClr>
              </a:solidFill>
              <a:latin typeface="Amasis MT Pro Medium" panose="02040604050005020304" pitchFamily="18" charset="0"/>
            </a:endParaRPr>
          </a:p>
          <a:p>
            <a:pPr algn="just"/>
            <a:r>
              <a:rPr lang="en-US" sz="1900" dirty="0">
                <a:solidFill>
                  <a:prstClr val="black">
                    <a:hueOff val="0"/>
                    <a:satOff val="0"/>
                    <a:lumOff val="0"/>
                    <a:alphaOff val="0"/>
                  </a:prstClr>
                </a:solidFill>
                <a:latin typeface="Amasis MT Pro Medium" panose="02040604050005020304" pitchFamily="18" charset="0"/>
              </a:rPr>
              <a:t>E.H. = GOES UPWARD</a:t>
            </a:r>
          </a:p>
          <a:p>
            <a:pPr algn="just"/>
            <a:r>
              <a:rPr lang="en-US" sz="1900" dirty="0">
                <a:solidFill>
                  <a:prstClr val="black">
                    <a:hueOff val="0"/>
                    <a:satOff val="0"/>
                    <a:lumOff val="0"/>
                    <a:alphaOff val="0"/>
                  </a:prstClr>
                </a:solidFill>
                <a:latin typeface="Amasis MT Pro Medium" panose="02040604050005020304" pitchFamily="18" charset="0"/>
              </a:rPr>
              <a:t>E.B. = GOES DOWNWARD</a:t>
            </a:r>
          </a:p>
        </p:txBody>
      </p:sp>
      <p:pic>
        <p:nvPicPr>
          <p:cNvPr id="4" name="Picture 3">
            <a:extLst>
              <a:ext uri="{FF2B5EF4-FFF2-40B4-BE49-F238E27FC236}">
                <a16:creationId xmlns:a16="http://schemas.microsoft.com/office/drawing/2014/main" id="{D1C905F0-53FF-2A4A-EAAE-27B8433FE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364" y="2645214"/>
            <a:ext cx="4961802" cy="3770970"/>
          </a:xfrm>
          <a:prstGeom prst="rect">
            <a:avLst/>
          </a:prstGeom>
        </p:spPr>
      </p:pic>
    </p:spTree>
    <p:extLst>
      <p:ext uri="{BB962C8B-B14F-4D97-AF65-F5344CB8AC3E}">
        <p14:creationId xmlns:p14="http://schemas.microsoft.com/office/powerpoint/2010/main" val="3977188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8DFE68D-D3E6-DFF8-1FF4-A8E51356317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E65688-6718-DCD8-0085-6B9AEEE0F0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5DA707D-6382-FD1D-05CF-88973889C1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945F06D-4AA5-84F9-A3E1-2D6C44D79EFA}"/>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DUCT RISER</a:t>
            </a:r>
          </a:p>
        </p:txBody>
      </p:sp>
      <p:sp>
        <p:nvSpPr>
          <p:cNvPr id="3" name="Content Placeholder 2">
            <a:extLst>
              <a:ext uri="{FF2B5EF4-FFF2-40B4-BE49-F238E27FC236}">
                <a16:creationId xmlns:a16="http://schemas.microsoft.com/office/drawing/2014/main" id="{58A83B25-1F83-9090-1838-B7A287F42931}"/>
              </a:ext>
            </a:extLst>
          </p:cNvPr>
          <p:cNvSpPr>
            <a:spLocks noGrp="1"/>
          </p:cNvSpPr>
          <p:nvPr>
            <p:ph idx="1"/>
          </p:nvPr>
        </p:nvSpPr>
        <p:spPr>
          <a:xfrm>
            <a:off x="138720" y="2347414"/>
            <a:ext cx="6237768" cy="3590174"/>
          </a:xfrm>
        </p:spPr>
        <p:txBody>
          <a:bodyPr>
            <a:normAutofit/>
          </a:bodyPr>
          <a:lstStyle/>
          <a:p>
            <a:endParaRPr lang="en-US" sz="2000" dirty="0">
              <a:solidFill>
                <a:prstClr val="black">
                  <a:hueOff val="0"/>
                  <a:satOff val="0"/>
                  <a:lumOff val="0"/>
                  <a:alphaOff val="0"/>
                </a:prstClr>
              </a:solidFill>
              <a:latin typeface="Amasis MT Pro Medium" panose="02040604050005020304" pitchFamily="18" charset="0"/>
            </a:endParaRPr>
          </a:p>
          <a:p>
            <a:r>
              <a:rPr lang="en-US" sz="2000" dirty="0">
                <a:solidFill>
                  <a:prstClr val="black">
                    <a:hueOff val="0"/>
                    <a:satOff val="0"/>
                    <a:lumOff val="0"/>
                    <a:alphaOff val="0"/>
                  </a:prstClr>
                </a:solidFill>
                <a:latin typeface="Amasis MT Pro Medium" panose="02040604050005020304" pitchFamily="18" charset="0"/>
              </a:rPr>
              <a:t>CHECK AND CONFIRM THE RISER OUTLET ON BOTH FLOORS, AND INCLUDE THE RISER FOR ONLY ONE FLOOR TO AVOID DUPLICATE COUNTING.</a:t>
            </a:r>
          </a:p>
          <a:p>
            <a:r>
              <a:rPr lang="en-US" altLang="en-US" sz="2000" dirty="0">
                <a:solidFill>
                  <a:prstClr val="black">
                    <a:hueOff val="0"/>
                    <a:satOff val="0"/>
                    <a:lumOff val="0"/>
                    <a:alphaOff val="0"/>
                  </a:prstClr>
                </a:solidFill>
                <a:latin typeface="Amasis MT Pro Medium" panose="02040604050005020304" pitchFamily="18" charset="0"/>
              </a:rPr>
              <a:t>IN THE REMARKS, MENTION IF THE RISER GOES UP OR DOWN TO A FLOOR OR ROOF.</a:t>
            </a:r>
            <a:endParaRPr lang="en-US" sz="2000" dirty="0">
              <a:solidFill>
                <a:prstClr val="black">
                  <a:hueOff val="0"/>
                  <a:satOff val="0"/>
                  <a:lumOff val="0"/>
                  <a:alphaOff val="0"/>
                </a:prstClr>
              </a:solidFill>
              <a:latin typeface="Amasis MT Pro Medium" panose="02040604050005020304" pitchFamily="18" charset="0"/>
            </a:endParaRPr>
          </a:p>
        </p:txBody>
      </p:sp>
      <p:pic>
        <p:nvPicPr>
          <p:cNvPr id="4" name="Picture 3">
            <a:extLst>
              <a:ext uri="{FF2B5EF4-FFF2-40B4-BE49-F238E27FC236}">
                <a16:creationId xmlns:a16="http://schemas.microsoft.com/office/drawing/2014/main" id="{3B2CCD6B-31C9-23CA-9A46-76079AA7A7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15208" y="2815936"/>
            <a:ext cx="5356916" cy="2653129"/>
          </a:xfrm>
          <a:prstGeom prst="rect">
            <a:avLst/>
          </a:prstGeom>
        </p:spPr>
      </p:pic>
    </p:spTree>
    <p:extLst>
      <p:ext uri="{BB962C8B-B14F-4D97-AF65-F5344CB8AC3E}">
        <p14:creationId xmlns:p14="http://schemas.microsoft.com/office/powerpoint/2010/main" val="935982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48CF64C-8BA1-ACE6-6BAD-5E797E0BAD4B}"/>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DAMPERS</a:t>
            </a:r>
          </a:p>
        </p:txBody>
      </p:sp>
      <p:sp>
        <p:nvSpPr>
          <p:cNvPr id="3" name="Content Placeholder 2">
            <a:extLst>
              <a:ext uri="{FF2B5EF4-FFF2-40B4-BE49-F238E27FC236}">
                <a16:creationId xmlns:a16="http://schemas.microsoft.com/office/drawing/2014/main" id="{6C7E31A3-25B9-6F42-1C83-332A09E19A29}"/>
              </a:ext>
            </a:extLst>
          </p:cNvPr>
          <p:cNvSpPr>
            <a:spLocks noGrp="1"/>
          </p:cNvSpPr>
          <p:nvPr>
            <p:ph idx="1"/>
          </p:nvPr>
        </p:nvSpPr>
        <p:spPr>
          <a:xfrm>
            <a:off x="164925" y="2534020"/>
            <a:ext cx="6182349" cy="3749955"/>
          </a:xfrm>
        </p:spPr>
        <p:txBody>
          <a:bodyPr>
            <a:noAutofit/>
          </a:bodyPr>
          <a:lstStyle/>
          <a:p>
            <a:pPr algn="just"/>
            <a:r>
              <a:rPr lang="en-US" sz="1900" dirty="0">
                <a:solidFill>
                  <a:prstClr val="black">
                    <a:hueOff val="0"/>
                    <a:satOff val="0"/>
                    <a:lumOff val="0"/>
                    <a:alphaOff val="0"/>
                  </a:prstClr>
                </a:solidFill>
                <a:latin typeface="Amasis MT Pro Medium" panose="02040604050005020304" pitchFamily="18" charset="0"/>
              </a:rPr>
              <a:t>TAG ALL AVAILABLE DAMPER TYPES IN THE SCHEDULE AND PLANS.</a:t>
            </a:r>
          </a:p>
          <a:p>
            <a:pPr algn="just"/>
            <a:r>
              <a:rPr lang="en-US" sz="1900" dirty="0">
                <a:solidFill>
                  <a:prstClr val="black">
                    <a:hueOff val="0"/>
                    <a:satOff val="0"/>
                    <a:lumOff val="0"/>
                    <a:alphaOff val="0"/>
                  </a:prstClr>
                </a:solidFill>
                <a:latin typeface="Amasis MT Pro Medium" panose="02040604050005020304" pitchFamily="18" charset="0"/>
              </a:rPr>
              <a:t>PROVIDE DUCT SIZE FOR ALL DAMPERS.</a:t>
            </a:r>
          </a:p>
          <a:p>
            <a:pPr algn="just"/>
            <a:r>
              <a:rPr lang="en-US" sz="1900" dirty="0">
                <a:solidFill>
                  <a:prstClr val="black">
                    <a:hueOff val="0"/>
                    <a:satOff val="0"/>
                    <a:lumOff val="0"/>
                    <a:alphaOff val="0"/>
                  </a:prstClr>
                </a:solidFill>
                <a:latin typeface="Amasis MT Pro Medium" panose="02040604050005020304" pitchFamily="18" charset="0"/>
              </a:rPr>
              <a:t>FIRE / FIRE SMOKE DAMPERS </a:t>
            </a:r>
            <a:r>
              <a:rPr lang="en-US" sz="1900" dirty="0">
                <a:solidFill>
                  <a:schemeClr val="accent6"/>
                </a:solidFill>
                <a:latin typeface="Amasis MT Pro Medium" panose="02040604050005020304" pitchFamily="18" charset="0"/>
              </a:rPr>
              <a:t>(FD/FSD)</a:t>
            </a:r>
            <a:r>
              <a:rPr lang="en-US" sz="1900" dirty="0">
                <a:solidFill>
                  <a:prstClr val="black">
                    <a:hueOff val="0"/>
                    <a:satOff val="0"/>
                    <a:lumOff val="0"/>
                    <a:alphaOff val="0"/>
                  </a:prstClr>
                </a:solidFill>
                <a:latin typeface="Amasis MT Pro Medium" panose="02040604050005020304" pitchFamily="18" charset="0"/>
              </a:rPr>
              <a:t>; SMOKE DAMPERS </a:t>
            </a:r>
            <a:r>
              <a:rPr lang="en-US" sz="1900" dirty="0">
                <a:solidFill>
                  <a:schemeClr val="accent6"/>
                </a:solidFill>
                <a:latin typeface="Amasis MT Pro Medium" panose="02040604050005020304" pitchFamily="18" charset="0"/>
              </a:rPr>
              <a:t>(SD)</a:t>
            </a:r>
            <a:r>
              <a:rPr lang="en-US" sz="1900" dirty="0">
                <a:solidFill>
                  <a:prstClr val="black">
                    <a:hueOff val="0"/>
                    <a:satOff val="0"/>
                    <a:lumOff val="0"/>
                    <a:alphaOff val="0"/>
                  </a:prstClr>
                </a:solidFill>
                <a:latin typeface="Amasis MT Pro Medium" panose="02040604050005020304" pitchFamily="18" charset="0"/>
              </a:rPr>
              <a:t>.</a:t>
            </a:r>
          </a:p>
          <a:p>
            <a:r>
              <a:rPr lang="en-US" sz="1900" dirty="0">
                <a:solidFill>
                  <a:prstClr val="black">
                    <a:hueOff val="0"/>
                    <a:satOff val="0"/>
                    <a:lumOff val="0"/>
                    <a:alphaOff val="0"/>
                  </a:prstClr>
                </a:solidFill>
                <a:latin typeface="Amasis MT Pro Medium" panose="02040604050005020304" pitchFamily="18" charset="0"/>
              </a:rPr>
              <a:t>MOTORIZED DAMPERS </a:t>
            </a:r>
            <a:r>
              <a:rPr lang="en-US" sz="1900" dirty="0">
                <a:solidFill>
                  <a:schemeClr val="accent6"/>
                </a:solidFill>
                <a:latin typeface="Amasis MT Pro Medium" panose="02040604050005020304" pitchFamily="18" charset="0"/>
              </a:rPr>
              <a:t>(MD)</a:t>
            </a:r>
            <a:r>
              <a:rPr lang="en-US" sz="1900" dirty="0">
                <a:solidFill>
                  <a:prstClr val="black">
                    <a:hueOff val="0"/>
                    <a:satOff val="0"/>
                    <a:lumOff val="0"/>
                    <a:alphaOff val="0"/>
                  </a:prstClr>
                </a:solidFill>
                <a:latin typeface="Amasis MT Pro Medium" panose="02040604050005020304" pitchFamily="18" charset="0"/>
              </a:rPr>
              <a:t>/ MOTOR-OPERATED DAMPERS </a:t>
            </a:r>
            <a:r>
              <a:rPr lang="en-US" sz="1900" dirty="0">
                <a:solidFill>
                  <a:schemeClr val="accent6"/>
                </a:solidFill>
                <a:latin typeface="Amasis MT Pro Medium" panose="02040604050005020304" pitchFamily="18" charset="0"/>
              </a:rPr>
              <a:t>(MOD).</a:t>
            </a:r>
          </a:p>
          <a:p>
            <a:pPr algn="just"/>
            <a:r>
              <a:rPr lang="en-US" sz="1900" dirty="0">
                <a:solidFill>
                  <a:prstClr val="black">
                    <a:hueOff val="0"/>
                    <a:satOff val="0"/>
                    <a:lumOff val="0"/>
                    <a:alphaOff val="0"/>
                  </a:prstClr>
                </a:solidFill>
                <a:latin typeface="Amasis MT Pro Medium" panose="02040604050005020304" pitchFamily="18" charset="0"/>
              </a:rPr>
              <a:t>VOLUME &amp; BALANCING DAMPERS </a:t>
            </a:r>
            <a:r>
              <a:rPr lang="en-US" sz="1900" dirty="0">
                <a:solidFill>
                  <a:schemeClr val="accent6"/>
                </a:solidFill>
                <a:latin typeface="Amasis MT Pro Medium" panose="02040604050005020304" pitchFamily="18" charset="0"/>
              </a:rPr>
              <a:t>(VD, MVD)</a:t>
            </a:r>
          </a:p>
          <a:p>
            <a:pPr algn="just"/>
            <a:r>
              <a:rPr lang="en-US" sz="1900" dirty="0">
                <a:solidFill>
                  <a:prstClr val="black">
                    <a:hueOff val="0"/>
                    <a:satOff val="0"/>
                    <a:lumOff val="0"/>
                    <a:alphaOff val="0"/>
                  </a:prstClr>
                </a:solidFill>
                <a:latin typeface="Amasis MT Pro Medium" panose="02040604050005020304" pitchFamily="18" charset="0"/>
              </a:rPr>
              <a:t>ZONE DAMPER (ZD); BACKDRAFT DAMPER </a:t>
            </a:r>
            <a:r>
              <a:rPr lang="en-US" sz="1900" dirty="0">
                <a:solidFill>
                  <a:schemeClr val="accent6"/>
                </a:solidFill>
                <a:latin typeface="Amasis MT Pro Medium" panose="02040604050005020304" pitchFamily="18" charset="0"/>
              </a:rPr>
              <a:t>(BD)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198" y="3739234"/>
            <a:ext cx="4841602" cy="290063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198" y="2534020"/>
            <a:ext cx="4841602" cy="1018608"/>
          </a:xfrm>
          <a:prstGeom prst="rect">
            <a:avLst/>
          </a:prstGeom>
        </p:spPr>
      </p:pic>
    </p:spTree>
    <p:extLst>
      <p:ext uri="{BB962C8B-B14F-4D97-AF65-F5344CB8AC3E}">
        <p14:creationId xmlns:p14="http://schemas.microsoft.com/office/powerpoint/2010/main" val="3296603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48CF64C-8BA1-ACE6-6BAD-5E797E0BAD4B}"/>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DAMPERS</a:t>
            </a:r>
          </a:p>
        </p:txBody>
      </p:sp>
      <p:sp>
        <p:nvSpPr>
          <p:cNvPr id="9" name="Content Placeholder 2">
            <a:extLst>
              <a:ext uri="{FF2B5EF4-FFF2-40B4-BE49-F238E27FC236}">
                <a16:creationId xmlns:a16="http://schemas.microsoft.com/office/drawing/2014/main" id="{6C7E31A3-25B9-6F42-1C83-332A09E19A29}"/>
              </a:ext>
            </a:extLst>
          </p:cNvPr>
          <p:cNvSpPr>
            <a:spLocks noGrp="1"/>
          </p:cNvSpPr>
          <p:nvPr>
            <p:ph idx="1"/>
          </p:nvPr>
        </p:nvSpPr>
        <p:spPr>
          <a:xfrm>
            <a:off x="83128" y="1934014"/>
            <a:ext cx="11770349" cy="3590174"/>
          </a:xfrm>
        </p:spPr>
        <p:txBody>
          <a:bodyPr>
            <a:normAutofit/>
          </a:bodyPr>
          <a:lstStyle/>
          <a:p>
            <a:endParaRPr lang="en-US" sz="2200" dirty="0">
              <a:latin typeface="Amasis MT Pro Medium" panose="02040604050005020304" pitchFamily="18" charset="0"/>
            </a:endParaRPr>
          </a:p>
          <a:p>
            <a:pPr marL="0" indent="0">
              <a:buNone/>
            </a:pPr>
            <a:r>
              <a:rPr lang="en-US" sz="1900" dirty="0">
                <a:solidFill>
                  <a:prstClr val="black">
                    <a:hueOff val="0"/>
                    <a:satOff val="0"/>
                    <a:lumOff val="0"/>
                    <a:alphaOff val="0"/>
                  </a:prstClr>
                </a:solidFill>
                <a:latin typeface="Amasis MT Pro Medium" panose="02040604050005020304" pitchFamily="18" charset="0"/>
              </a:rPr>
              <a:t>ADD THESE TAG ACCESSORIES IN THE VJR EXCEL SHEET:</a:t>
            </a:r>
          </a:p>
          <a:p>
            <a:r>
              <a:rPr lang="en-US" sz="1900" dirty="0">
                <a:solidFill>
                  <a:prstClr val="black">
                    <a:hueOff val="0"/>
                    <a:satOff val="0"/>
                    <a:lumOff val="0"/>
                    <a:alphaOff val="0"/>
                  </a:prstClr>
                </a:solidFill>
                <a:latin typeface="Amasis MT Pro Medium" panose="02040604050005020304" pitchFamily="18" charset="0"/>
              </a:rPr>
              <a:t>FIRE/ FIRE SMOKE DAMPER </a:t>
            </a:r>
            <a:r>
              <a:rPr lang="en-US" sz="1900" dirty="0">
                <a:solidFill>
                  <a:schemeClr val="accent6"/>
                </a:solidFill>
                <a:latin typeface="Amasis MT Pro Medium" panose="02040604050005020304" pitchFamily="18" charset="0"/>
              </a:rPr>
              <a:t>(FD/FSD) – (10/100)</a:t>
            </a:r>
          </a:p>
          <a:p>
            <a:r>
              <a:rPr lang="en-US" sz="1900" dirty="0">
                <a:solidFill>
                  <a:prstClr val="black">
                    <a:hueOff val="0"/>
                    <a:satOff val="0"/>
                    <a:lumOff val="0"/>
                    <a:alphaOff val="0"/>
                  </a:prstClr>
                </a:solidFill>
                <a:latin typeface="Amasis MT Pro Medium" panose="02040604050005020304" pitchFamily="18" charset="0"/>
              </a:rPr>
              <a:t>GRAVITY DAMPER </a:t>
            </a:r>
            <a:r>
              <a:rPr lang="en-US" sz="1900" dirty="0">
                <a:solidFill>
                  <a:schemeClr val="accent6"/>
                </a:solidFill>
                <a:latin typeface="Amasis MT Pro Medium" panose="02040604050005020304" pitchFamily="18" charset="0"/>
              </a:rPr>
              <a:t>(12)</a:t>
            </a:r>
          </a:p>
          <a:p>
            <a:r>
              <a:rPr lang="en-US" sz="1900" dirty="0">
                <a:solidFill>
                  <a:prstClr val="black">
                    <a:hueOff val="0"/>
                    <a:satOff val="0"/>
                    <a:lumOff val="0"/>
                    <a:alphaOff val="0"/>
                  </a:prstClr>
                </a:solidFill>
                <a:latin typeface="Amasis MT Pro Medium" panose="02040604050005020304" pitchFamily="18" charset="0"/>
              </a:rPr>
              <a:t>MOTORIZED DAMPER </a:t>
            </a:r>
            <a:r>
              <a:rPr lang="en-US" sz="1900" dirty="0">
                <a:solidFill>
                  <a:schemeClr val="accent6"/>
                </a:solidFill>
                <a:latin typeface="Amasis MT Pro Medium" panose="02040604050005020304" pitchFamily="18" charset="0"/>
              </a:rPr>
              <a:t>(MD) (11/111)</a:t>
            </a:r>
          </a:p>
          <a:p>
            <a:r>
              <a:rPr lang="en-US" sz="1900" dirty="0">
                <a:solidFill>
                  <a:prstClr val="black">
                    <a:hueOff val="0"/>
                    <a:satOff val="0"/>
                    <a:lumOff val="0"/>
                    <a:alphaOff val="0"/>
                  </a:prstClr>
                </a:solidFill>
                <a:latin typeface="Amasis MT Pro Medium" panose="02040604050005020304" pitchFamily="18" charset="0"/>
              </a:rPr>
              <a:t>VOLUME/BALANCING DAMPERS </a:t>
            </a:r>
            <a:r>
              <a:rPr lang="en-US" sz="1900" dirty="0">
                <a:solidFill>
                  <a:schemeClr val="accent6"/>
                </a:solidFill>
                <a:latin typeface="Amasis MT Pro Medium" panose="02040604050005020304" pitchFamily="18" charset="0"/>
              </a:rPr>
              <a:t>(MBD/MVD) – (13/131)</a:t>
            </a:r>
          </a:p>
          <a:p>
            <a:r>
              <a:rPr lang="en-US" sz="1900" dirty="0">
                <a:latin typeface="Amasis MT Pro Medium" panose="02040604050005020304" pitchFamily="18" charset="0"/>
              </a:rPr>
              <a:t>IF DAMPERS(OTHER THAN BALANCING DAMPERS ) ARE IN SPIRAL DUCTS, THEN CONVERT IT TO RECTANGULAR AND ADD </a:t>
            </a:r>
            <a:r>
              <a:rPr lang="en-US" sz="1900" dirty="0">
                <a:solidFill>
                  <a:srgbClr val="FF0000"/>
                </a:solidFill>
                <a:latin typeface="Amasis MT Pro Medium" panose="02040604050005020304" pitchFamily="18" charset="0"/>
              </a:rPr>
              <a:t>0</a:t>
            </a:r>
            <a:r>
              <a:rPr lang="en-US" sz="1900" dirty="0">
                <a:latin typeface="Amasis MT Pro Medium" panose="02040604050005020304" pitchFamily="18" charset="0"/>
              </a:rPr>
              <a:t> IN LENGTH OF DUCT AND ADD DAMPER ACCESSORIES TO IT</a:t>
            </a:r>
          </a:p>
          <a:p>
            <a:endParaRPr lang="en-US" sz="2000" dirty="0">
              <a:solidFill>
                <a:schemeClr val="accent6"/>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7018" y="5339114"/>
            <a:ext cx="10631675" cy="1785104"/>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TAG SPECIFICATIONS</a:t>
            </a:r>
          </a:p>
          <a:p>
            <a:r>
              <a:rPr lang="en-US" dirty="0">
                <a:latin typeface="Amasis MT Pro Medium" panose="02040604050005020304" pitchFamily="18" charset="0"/>
              </a:rPr>
              <a:t>RCF/VCF = FIRE DAMPER</a:t>
            </a:r>
          </a:p>
          <a:p>
            <a:r>
              <a:rPr lang="en-US" dirty="0">
                <a:latin typeface="Amasis MT Pro Medium" panose="02040604050005020304" pitchFamily="18" charset="0"/>
              </a:rPr>
              <a:t>RCFF/VCFF = FIRE SMOKE DAMPER</a:t>
            </a:r>
          </a:p>
          <a:p>
            <a:r>
              <a:rPr lang="en-US" dirty="0">
                <a:latin typeface="Amasis MT Pro Medium" panose="02040604050005020304" pitchFamily="18" charset="0"/>
              </a:rPr>
              <a:t>RE = SPIN IN DAMPER/ MANUAL VOLUME/BALANCING DAMPER</a:t>
            </a:r>
          </a:p>
          <a:p>
            <a:r>
              <a:rPr lang="en-US" dirty="0">
                <a:latin typeface="Amasis MT Pro Medium" panose="02040604050005020304" pitchFamily="18" charset="0"/>
              </a:rPr>
              <a:t>RM/RMO = MOTORIZED DAMPER</a:t>
            </a:r>
          </a:p>
          <a:p>
            <a:endParaRPr lang="en-US" dirty="0">
              <a:latin typeface="Amasis MT Pro Medium" panose="020406040500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2501" y="3128427"/>
            <a:ext cx="4485973" cy="610657"/>
          </a:xfrm>
          <a:prstGeom prst="rect">
            <a:avLst/>
          </a:prstGeom>
        </p:spPr>
      </p:pic>
    </p:spTree>
    <p:extLst>
      <p:ext uri="{BB962C8B-B14F-4D97-AF65-F5344CB8AC3E}">
        <p14:creationId xmlns:p14="http://schemas.microsoft.com/office/powerpoint/2010/main" val="535268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108A888-7E75-54C9-C249-3A16E781AF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43CDC-3FC4-3F87-1927-2D394D6108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07A22E-FE89-7CA6-6930-15E7AA899F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705181DA-1D71-32E4-356D-470B8423746D}"/>
              </a:ext>
            </a:extLst>
          </p:cNvPr>
          <p:cNvSpPr>
            <a:spLocks noGrp="1"/>
          </p:cNvSpPr>
          <p:nvPr>
            <p:ph type="title"/>
          </p:nvPr>
        </p:nvSpPr>
        <p:spPr>
          <a:xfrm>
            <a:off x="838200" y="401221"/>
            <a:ext cx="10515600" cy="1348065"/>
          </a:xfrm>
        </p:spPr>
        <p:txBody>
          <a:bodyPr>
            <a:normAutofit fontScale="90000"/>
          </a:bodyPr>
          <a:lstStyle/>
          <a:p>
            <a:pPr algn="ctr"/>
            <a:r>
              <a:rPr lang="en-US" sz="6800" dirty="0">
                <a:solidFill>
                  <a:schemeClr val="bg1"/>
                </a:solidFill>
                <a:latin typeface="Amasis MT Pro Medium" panose="02040604050005020304" pitchFamily="18" charset="0"/>
              </a:rPr>
              <a:t>DAMPERS-MANUAL BALANCING DAMPER</a:t>
            </a:r>
          </a:p>
        </p:txBody>
      </p:sp>
      <p:sp>
        <p:nvSpPr>
          <p:cNvPr id="9" name="Content Placeholder 2">
            <a:extLst>
              <a:ext uri="{FF2B5EF4-FFF2-40B4-BE49-F238E27FC236}">
                <a16:creationId xmlns:a16="http://schemas.microsoft.com/office/drawing/2014/main" id="{C25E44AD-801F-48B5-593F-FC3B76737E5E}"/>
              </a:ext>
            </a:extLst>
          </p:cNvPr>
          <p:cNvSpPr>
            <a:spLocks noGrp="1"/>
          </p:cNvSpPr>
          <p:nvPr>
            <p:ph idx="1"/>
          </p:nvPr>
        </p:nvSpPr>
        <p:spPr>
          <a:xfrm>
            <a:off x="83129" y="1934014"/>
            <a:ext cx="6593244" cy="3174701"/>
          </a:xfrm>
        </p:spPr>
        <p:txBody>
          <a:bodyPr>
            <a:normAutofit lnSpcReduction="10000"/>
          </a:bodyPr>
          <a:lstStyle/>
          <a:p>
            <a:endParaRPr lang="en-US" sz="2200" dirty="0">
              <a:latin typeface="Amasis MT Pro Medium" panose="02040604050005020304" pitchFamily="18" charset="0"/>
            </a:endParaRPr>
          </a:p>
          <a:p>
            <a:r>
              <a:rPr lang="en-US" sz="1900" dirty="0">
                <a:solidFill>
                  <a:prstClr val="black">
                    <a:hueOff val="0"/>
                    <a:satOff val="0"/>
                    <a:lumOff val="0"/>
                    <a:alphaOff val="0"/>
                  </a:prstClr>
                </a:solidFill>
                <a:latin typeface="Amasis MT Pro Medium" panose="02040604050005020304" pitchFamily="18" charset="0"/>
              </a:rPr>
              <a:t>ADD MANUAL BALANCING DAMPER WHENEVER THE DUCT IS BRANCHED TO CONNECT TO GRD EVEN IF NOT INDICATED.</a:t>
            </a:r>
            <a:endParaRPr lang="en-US" sz="1900" dirty="0">
              <a:solidFill>
                <a:schemeClr val="accent6"/>
              </a:solidFill>
              <a:latin typeface="Amasis MT Pro Medium" panose="02040604050005020304" pitchFamily="18" charset="0"/>
            </a:endParaRPr>
          </a:p>
          <a:p>
            <a:r>
              <a:rPr lang="en-US" sz="1900" dirty="0">
                <a:latin typeface="Amasis MT Pro Medium" panose="02040604050005020304" pitchFamily="18" charset="0"/>
              </a:rPr>
              <a:t>AS SHOWN IN ATTACHED IMAGE, MBD IS ADDED FOR GRD TAG Q.</a:t>
            </a:r>
          </a:p>
          <a:p>
            <a:r>
              <a:rPr lang="en-US" sz="1900" dirty="0">
                <a:latin typeface="Amasis MT Pro Medium" panose="02040604050005020304" pitchFamily="18" charset="0"/>
              </a:rPr>
              <a:t>NOTE THAT IF THERE IS VAV BOX/VALVE CONNECTED TO GRD SIMILAR TO TAG J, THEN MBD IS NOT NEEDED.</a:t>
            </a:r>
          </a:p>
          <a:p>
            <a:endParaRPr lang="en-US" sz="1900" dirty="0">
              <a:latin typeface="Amasis MT Pro Medium" panose="02040604050005020304" pitchFamily="18" charset="0"/>
            </a:endParaRPr>
          </a:p>
          <a:p>
            <a:endParaRPr lang="en-US" sz="2000" dirty="0">
              <a:solidFill>
                <a:schemeClr val="accent6"/>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56CC627-0F37-C123-FDC0-5E583AEA3F03}"/>
              </a:ext>
            </a:extLst>
          </p:cNvPr>
          <p:cNvSpPr/>
          <p:nvPr/>
        </p:nvSpPr>
        <p:spPr>
          <a:xfrm>
            <a:off x="150755" y="5108715"/>
            <a:ext cx="11203045" cy="1554272"/>
          </a:xfrm>
          <a:prstGeom prst="rect">
            <a:avLst/>
          </a:prstGeom>
        </p:spPr>
        <p:txBody>
          <a:bodyPr wrap="square">
            <a:spAutoFit/>
          </a:bodyPr>
          <a:lstStyle/>
          <a:p>
            <a:pPr marL="285750" indent="-285750">
              <a:buFont typeface="Arial" panose="020B0604020202020204" pitchFamily="34" charset="0"/>
              <a:buChar char="•"/>
            </a:pPr>
            <a:r>
              <a:rPr lang="en-US" sz="1900" dirty="0">
                <a:latin typeface="Amasis MT Pro Medium" panose="02040604050005020304" pitchFamily="18" charset="0"/>
              </a:rPr>
              <a:t>THE MBD CONNECTED TO SPIRAL DUCTS ARE ADDED IN </a:t>
            </a:r>
            <a:r>
              <a:rPr lang="en-US" sz="1900" u="sng" dirty="0">
                <a:latin typeface="Amasis MT Pro Medium" panose="02040604050005020304" pitchFamily="18" charset="0"/>
              </a:rPr>
              <a:t>SPIRALE</a:t>
            </a:r>
            <a:r>
              <a:rPr lang="en-US" sz="1900" dirty="0">
                <a:latin typeface="Amasis MT Pro Medium" panose="02040604050005020304" pitchFamily="18" charset="0"/>
              </a:rPr>
              <a:t> WORKSHEET OF VJR EXCEL.</a:t>
            </a:r>
          </a:p>
          <a:p>
            <a:pPr marL="285750" indent="-285750">
              <a:buFont typeface="Arial" panose="020B0604020202020204" pitchFamily="34" charset="0"/>
              <a:buChar char="•"/>
            </a:pPr>
            <a:r>
              <a:rPr lang="en-US" sz="1900" dirty="0">
                <a:latin typeface="Amasis MT Pro Medium" panose="02040604050005020304" pitchFamily="18" charset="0"/>
              </a:rPr>
              <a:t>IF MBD IS CONNECTED TO RIGID(METAL) ROUND DUCT, THEN ASSUME IT AS RECTANGULAR DUCT ACCESSORY WITH CODE </a:t>
            </a:r>
            <a:r>
              <a:rPr lang="en-US" sz="1900" u="sng" dirty="0">
                <a:latin typeface="Amasis MT Pro Medium" panose="02040604050005020304" pitchFamily="18" charset="0"/>
              </a:rPr>
              <a:t>9</a:t>
            </a:r>
            <a:r>
              <a:rPr lang="en-US" sz="1900" dirty="0">
                <a:latin typeface="Amasis MT Pro Medium" panose="02040604050005020304" pitchFamily="18" charset="0"/>
              </a:rPr>
              <a:t>. NOTE THAT THIS DAMPER IS COST EFFICIENT DUE TO LOWER PRICE.</a:t>
            </a:r>
          </a:p>
        </p:txBody>
      </p:sp>
      <p:pic>
        <p:nvPicPr>
          <p:cNvPr id="6" name="Picture 5">
            <a:extLst>
              <a:ext uri="{FF2B5EF4-FFF2-40B4-BE49-F238E27FC236}">
                <a16:creationId xmlns:a16="http://schemas.microsoft.com/office/drawing/2014/main" id="{0AF56D28-A025-23E0-7569-0BA3BE9B53DB}"/>
              </a:ext>
            </a:extLst>
          </p:cNvPr>
          <p:cNvPicPr>
            <a:picLocks noChangeAspect="1"/>
          </p:cNvPicPr>
          <p:nvPr/>
        </p:nvPicPr>
        <p:blipFill>
          <a:blip r:embed="rId2"/>
          <a:stretch>
            <a:fillRect/>
          </a:stretch>
        </p:blipFill>
        <p:spPr>
          <a:xfrm>
            <a:off x="6642996" y="2068520"/>
            <a:ext cx="5204125" cy="2720960"/>
          </a:xfrm>
          <a:prstGeom prst="rect">
            <a:avLst/>
          </a:prstGeom>
        </p:spPr>
      </p:pic>
      <p:sp>
        <p:nvSpPr>
          <p:cNvPr id="4" name="Oval 3">
            <a:extLst>
              <a:ext uri="{FF2B5EF4-FFF2-40B4-BE49-F238E27FC236}">
                <a16:creationId xmlns:a16="http://schemas.microsoft.com/office/drawing/2014/main" id="{38B86188-2B18-F9B4-DC44-A1D71224985B}"/>
              </a:ext>
            </a:extLst>
          </p:cNvPr>
          <p:cNvSpPr/>
          <p:nvPr/>
        </p:nvSpPr>
        <p:spPr>
          <a:xfrm>
            <a:off x="10641407" y="3140875"/>
            <a:ext cx="460268" cy="3804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1BB302-F7CB-EB4D-251F-9EE7CFC352FA}"/>
              </a:ext>
            </a:extLst>
          </p:cNvPr>
          <p:cNvSpPr/>
          <p:nvPr/>
        </p:nvSpPr>
        <p:spPr>
          <a:xfrm>
            <a:off x="8428756" y="2748635"/>
            <a:ext cx="460268" cy="3804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0463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4F4EAB2D-D9F1-6D32-7430-A504042B9419}"/>
              </a:ext>
            </a:extLst>
          </p:cNvPr>
          <p:cNvSpPr>
            <a:spLocks noGrp="1"/>
          </p:cNvSpPr>
          <p:nvPr>
            <p:ph idx="1"/>
          </p:nvPr>
        </p:nvSpPr>
        <p:spPr>
          <a:xfrm>
            <a:off x="256310" y="2251252"/>
            <a:ext cx="10515600" cy="4702910"/>
          </a:xfrm>
        </p:spPr>
        <p:txBody>
          <a:bodyPr>
            <a:normAutofit/>
          </a:bodyPr>
          <a:lstStyle/>
          <a:p>
            <a:pPr marL="0" indent="0">
              <a:buNone/>
            </a:pPr>
            <a:r>
              <a:rPr lang="en-US" sz="2400" dirty="0">
                <a:solidFill>
                  <a:schemeClr val="accent6"/>
                </a:solidFill>
                <a:latin typeface="Amasis MT Pro Medium" panose="02040604050005020304" pitchFamily="18" charset="0"/>
              </a:rPr>
              <a:t>SCALE SETTING:</a:t>
            </a:r>
          </a:p>
          <a:p>
            <a:r>
              <a:rPr lang="en-US" sz="1800" dirty="0">
                <a:solidFill>
                  <a:prstClr val="black">
                    <a:hueOff val="0"/>
                    <a:satOff val="0"/>
                    <a:lumOff val="0"/>
                    <a:alphaOff val="0"/>
                  </a:prstClr>
                </a:solidFill>
                <a:latin typeface="Amasis MT Pro Medium" panose="02040604050005020304" pitchFamily="18" charset="0"/>
              </a:rPr>
              <a:t>CHECK THE PLAN DETAILS FOR SCALE.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(USUALLY AT THE TOP/BOTTOM OF PAGE)</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TO SET THE SCALE, CLICK “SCALE NOT SET” IN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THE BOTTOM RIGHT OF BLUEBEAM APP</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A POPUP WILL APPEAR WITH THE SCALE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SETTINGS WIZARD, REF. IMAGE:</a:t>
            </a:r>
          </a:p>
          <a:p>
            <a:pPr marL="0" indent="0">
              <a:buNone/>
            </a:pPr>
            <a:endParaRPr lang="en-US" sz="2000" dirty="0"/>
          </a:p>
        </p:txBody>
      </p:sp>
      <p:pic>
        <p:nvPicPr>
          <p:cNvPr id="14" name="Picture 13">
            <a:extLst>
              <a:ext uri="{FF2B5EF4-FFF2-40B4-BE49-F238E27FC236}">
                <a16:creationId xmlns:a16="http://schemas.microsoft.com/office/drawing/2014/main" id="{E5791543-03D9-0814-D624-7F2F4609AA32}"/>
              </a:ext>
            </a:extLst>
          </p:cNvPr>
          <p:cNvPicPr>
            <a:picLocks noChangeAspect="1"/>
          </p:cNvPicPr>
          <p:nvPr/>
        </p:nvPicPr>
        <p:blipFill>
          <a:blip r:embed="rId2">
            <a:extLst>
              <a:ext uri="{28A0092B-C50C-407E-A947-70E740481C1C}">
                <a14:useLocalDpi xmlns:a14="http://schemas.microsoft.com/office/drawing/2010/main" val="0"/>
              </a:ext>
            </a:extLst>
          </a:blip>
          <a:srcRect t="27845" r="7042" b="34938"/>
          <a:stretch>
            <a:fillRect/>
          </a:stretch>
        </p:blipFill>
        <p:spPr>
          <a:xfrm>
            <a:off x="6094476" y="2537891"/>
            <a:ext cx="3244645" cy="418441"/>
          </a:xfrm>
          <a:prstGeom prst="rect">
            <a:avLst/>
          </a:prstGeom>
        </p:spPr>
      </p:pic>
      <p:pic>
        <p:nvPicPr>
          <p:cNvPr id="15" name="Picture 14">
            <a:extLst>
              <a:ext uri="{FF2B5EF4-FFF2-40B4-BE49-F238E27FC236}">
                <a16:creationId xmlns:a16="http://schemas.microsoft.com/office/drawing/2014/main" id="{0DE6CDB8-F2B1-10F5-3E10-14F4366E57C8}"/>
              </a:ext>
            </a:extLst>
          </p:cNvPr>
          <p:cNvPicPr>
            <a:picLocks noChangeAspect="1"/>
          </p:cNvPicPr>
          <p:nvPr/>
        </p:nvPicPr>
        <p:blipFill>
          <a:blip r:embed="rId3"/>
          <a:srcRect b="20596"/>
          <a:stretch>
            <a:fillRect/>
          </a:stretch>
        </p:blipFill>
        <p:spPr>
          <a:xfrm>
            <a:off x="6094476" y="3090721"/>
            <a:ext cx="1732323" cy="434413"/>
          </a:xfrm>
          <a:prstGeom prst="rect">
            <a:avLst/>
          </a:prstGeom>
        </p:spPr>
      </p:pic>
      <p:pic>
        <p:nvPicPr>
          <p:cNvPr id="16" name="Picture 15">
            <a:extLst>
              <a:ext uri="{FF2B5EF4-FFF2-40B4-BE49-F238E27FC236}">
                <a16:creationId xmlns:a16="http://schemas.microsoft.com/office/drawing/2014/main" id="{3EB672F4-7D91-78FF-1CAE-22977F9C638B}"/>
              </a:ext>
            </a:extLst>
          </p:cNvPr>
          <p:cNvPicPr>
            <a:picLocks noChangeAspect="1"/>
          </p:cNvPicPr>
          <p:nvPr/>
        </p:nvPicPr>
        <p:blipFill>
          <a:blip r:embed="rId4"/>
          <a:srcRect t="34266"/>
          <a:stretch>
            <a:fillRect/>
          </a:stretch>
        </p:blipFill>
        <p:spPr>
          <a:xfrm>
            <a:off x="6094476" y="3989536"/>
            <a:ext cx="3834581" cy="344086"/>
          </a:xfrm>
          <a:prstGeom prst="rect">
            <a:avLst/>
          </a:prstGeom>
        </p:spPr>
      </p:pic>
      <p:pic>
        <p:nvPicPr>
          <p:cNvPr id="17" name="Picture 16">
            <a:extLst>
              <a:ext uri="{FF2B5EF4-FFF2-40B4-BE49-F238E27FC236}">
                <a16:creationId xmlns:a16="http://schemas.microsoft.com/office/drawing/2014/main" id="{36EC5595-2F14-95DA-F647-8B67B94B5C96}"/>
              </a:ext>
            </a:extLst>
          </p:cNvPr>
          <p:cNvPicPr>
            <a:picLocks noChangeAspect="1"/>
          </p:cNvPicPr>
          <p:nvPr/>
        </p:nvPicPr>
        <p:blipFill>
          <a:blip r:embed="rId5"/>
          <a:stretch>
            <a:fillRect/>
          </a:stretch>
        </p:blipFill>
        <p:spPr>
          <a:xfrm>
            <a:off x="6094476" y="4709421"/>
            <a:ext cx="4256043" cy="1885121"/>
          </a:xfrm>
          <a:prstGeom prst="rect">
            <a:avLst/>
          </a:prstGeom>
        </p:spPr>
      </p:pic>
    </p:spTree>
    <p:extLst>
      <p:ext uri="{BB962C8B-B14F-4D97-AF65-F5344CB8AC3E}">
        <p14:creationId xmlns:p14="http://schemas.microsoft.com/office/powerpoint/2010/main" val="1722431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98127C9-7C34-959F-3FB0-8F0CB6FE3D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B62A7E-2E97-03D9-41FA-6DD6E3E85E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A2E82BF-0624-FED9-9555-40ABB49A352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6130FDF1-9212-D8EB-3C81-37A207BC835A}"/>
              </a:ext>
            </a:extLst>
          </p:cNvPr>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6967CC85-7ED2-8B88-BC71-107DC5458928}"/>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6A581BC2-3D57-784F-C2AA-28AEE1B7AAB9}"/>
              </a:ext>
            </a:extLst>
          </p:cNvPr>
          <p:cNvSpPr>
            <a:spLocks noGrp="1"/>
          </p:cNvSpPr>
          <p:nvPr>
            <p:ph idx="1"/>
          </p:nvPr>
        </p:nvSpPr>
        <p:spPr>
          <a:xfrm>
            <a:off x="256310" y="2251252"/>
            <a:ext cx="10515600" cy="4702910"/>
          </a:xfrm>
        </p:spPr>
        <p:txBody>
          <a:bodyPr>
            <a:normAutofit/>
          </a:bodyPr>
          <a:lstStyle/>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IF SCALE IS </a:t>
            </a:r>
            <a:r>
              <a:rPr lang="en-US" sz="1800" dirty="0">
                <a:solidFill>
                  <a:schemeClr val="accent6"/>
                </a:solidFill>
                <a:latin typeface="Amasis MT Pro Medium" panose="02040604050005020304" pitchFamily="18" charset="0"/>
              </a:rPr>
              <a:t>PROVIDED</a:t>
            </a:r>
            <a:r>
              <a:rPr lang="en-US" sz="1800" dirty="0">
                <a:solidFill>
                  <a:prstClr val="black">
                    <a:hueOff val="0"/>
                    <a:satOff val="0"/>
                    <a:lumOff val="0"/>
                    <a:alphaOff val="0"/>
                  </a:prstClr>
                </a:solidFill>
                <a:latin typeface="Amasis MT Pro Medium" panose="02040604050005020304" pitchFamily="18" charset="0"/>
              </a:rPr>
              <a:t> IN THE DRAWING,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SELECT THE SCALE FROM THE PRESET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OPTION.</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YOU CAN CHOOSE THE PRESET FROM THE DROP</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DOWN LIST: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
            </a:r>
            <a:br>
              <a:rPr lang="en-US" sz="1800" dirty="0">
                <a:solidFill>
                  <a:prstClr val="black">
                    <a:hueOff val="0"/>
                    <a:satOff val="0"/>
                    <a:lumOff val="0"/>
                    <a:alphaOff val="0"/>
                  </a:prstClr>
                </a:solidFill>
                <a:latin typeface="Amasis MT Pro Medium" panose="02040604050005020304" pitchFamily="18" charset="0"/>
              </a:rPr>
            </a:br>
            <a:r>
              <a:rPr lang="en-US" sz="1800" i="1" dirty="0">
                <a:solidFill>
                  <a:prstClr val="black">
                    <a:hueOff val="0"/>
                    <a:satOff val="0"/>
                    <a:lumOff val="0"/>
                    <a:alphaOff val="0"/>
                  </a:prstClr>
                </a:solidFill>
                <a:latin typeface="Amasis MT Pro Medium" panose="02040604050005020304" pitchFamily="18" charset="0"/>
              </a:rPr>
              <a:t>FOR SI/METRIC SYSTEM</a:t>
            </a:r>
            <a:r>
              <a:rPr lang="en-US" sz="1800" dirty="0">
                <a:solidFill>
                  <a:prstClr val="black">
                    <a:hueOff val="0"/>
                    <a:satOff val="0"/>
                    <a:lumOff val="0"/>
                    <a:alphaOff val="0"/>
                  </a:prstClr>
                </a:solidFill>
                <a:latin typeface="Amasis MT Pro Medium" panose="02040604050005020304" pitchFamily="18" charset="0"/>
              </a:rPr>
              <a:t>–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schemeClr val="accent6"/>
                </a:solidFill>
                <a:latin typeface="Amasis MT Pro Medium" panose="02040604050005020304" pitchFamily="18" charset="0"/>
              </a:rPr>
              <a:t>1:10, 1:50, 1:100, etc.</a:t>
            </a:r>
            <a:br>
              <a:rPr lang="en-US" sz="1800" dirty="0">
                <a:solidFill>
                  <a:schemeClr val="accent6"/>
                </a:solidFill>
                <a:latin typeface="Amasis MT Pro Medium" panose="02040604050005020304" pitchFamily="18" charset="0"/>
              </a:rPr>
            </a:br>
            <a:r>
              <a:rPr lang="en-US" sz="1800" i="1" dirty="0">
                <a:solidFill>
                  <a:prstClr val="black">
                    <a:hueOff val="0"/>
                    <a:satOff val="0"/>
                    <a:lumOff val="0"/>
                    <a:alphaOff val="0"/>
                  </a:prstClr>
                </a:solidFill>
                <a:latin typeface="Amasis MT Pro Medium" panose="02040604050005020304" pitchFamily="18" charset="0"/>
              </a:rPr>
              <a:t>FOR IMPERIAL SYSTEM- </a:t>
            </a:r>
            <a:br>
              <a:rPr lang="en-US" sz="1800" i="1" dirty="0">
                <a:solidFill>
                  <a:prstClr val="black">
                    <a:hueOff val="0"/>
                    <a:satOff val="0"/>
                    <a:lumOff val="0"/>
                    <a:alphaOff val="0"/>
                  </a:prstClr>
                </a:solidFill>
                <a:latin typeface="Amasis MT Pro Medium" panose="02040604050005020304" pitchFamily="18" charset="0"/>
              </a:rPr>
            </a:br>
            <a:r>
              <a:rPr lang="en-US" sz="1800" dirty="0">
                <a:solidFill>
                  <a:schemeClr val="accent6"/>
                </a:solidFill>
                <a:latin typeface="Amasis MT Pro Medium" panose="02040604050005020304" pitchFamily="18" charset="0"/>
              </a:rPr>
              <a:t>1/32" = 1'-0"1/16" = 1'-0"3/32" = 1’-0”, etc.</a:t>
            </a:r>
          </a:p>
        </p:txBody>
      </p:sp>
      <p:pic>
        <p:nvPicPr>
          <p:cNvPr id="17" name="Picture 16">
            <a:extLst>
              <a:ext uri="{FF2B5EF4-FFF2-40B4-BE49-F238E27FC236}">
                <a16:creationId xmlns:a16="http://schemas.microsoft.com/office/drawing/2014/main" id="{88016E4B-13BA-C4E7-3DCD-564120BA1E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92686" y="2347414"/>
            <a:ext cx="5480761" cy="3719089"/>
          </a:xfrm>
          <a:prstGeom prst="rect">
            <a:avLst/>
          </a:prstGeom>
        </p:spPr>
      </p:pic>
    </p:spTree>
    <p:extLst>
      <p:ext uri="{BB962C8B-B14F-4D97-AF65-F5344CB8AC3E}">
        <p14:creationId xmlns:p14="http://schemas.microsoft.com/office/powerpoint/2010/main" val="3895624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7A927B9-8960-2048-2DC5-887DBAC155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A3D39B-CB1B-93D0-DC4E-7DB6C3CC2B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8669799-0059-864A-F812-4F49C2EB2F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7758AE0F-2279-2FB7-4B92-8EC570E5D84A}"/>
              </a:ext>
            </a:extLst>
          </p:cNvPr>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FC0F88BD-6860-1780-2620-945384BB51AA}"/>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4F2637EF-4D22-FDCB-BF42-E9ADC64919B5}"/>
              </a:ext>
            </a:extLst>
          </p:cNvPr>
          <p:cNvSpPr>
            <a:spLocks noGrp="1"/>
          </p:cNvSpPr>
          <p:nvPr>
            <p:ph idx="1"/>
          </p:nvPr>
        </p:nvSpPr>
        <p:spPr>
          <a:xfrm>
            <a:off x="256310" y="2251252"/>
            <a:ext cx="10515600" cy="4702910"/>
          </a:xfrm>
        </p:spPr>
        <p:txBody>
          <a:bodyPr>
            <a:normAutofit/>
          </a:bodyPr>
          <a:lstStyle/>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IF SCALE IS </a:t>
            </a:r>
            <a:r>
              <a:rPr lang="en-US" sz="1800" dirty="0">
                <a:solidFill>
                  <a:schemeClr val="accent6"/>
                </a:solidFill>
                <a:latin typeface="Amasis MT Pro Medium" panose="02040604050005020304" pitchFamily="18" charset="0"/>
              </a:rPr>
              <a:t>NOT PROVIDED </a:t>
            </a:r>
            <a:r>
              <a:rPr lang="en-US" sz="1800" dirty="0">
                <a:solidFill>
                  <a:prstClr val="black">
                    <a:hueOff val="0"/>
                    <a:satOff val="0"/>
                    <a:lumOff val="0"/>
                    <a:alphaOff val="0"/>
                  </a:prstClr>
                </a:solidFill>
                <a:latin typeface="Amasis MT Pro Medium" panose="02040604050005020304" pitchFamily="18" charset="0"/>
              </a:rPr>
              <a:t>IN THE DRAWING,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WE WILL FIND THE SCALE BY </a:t>
            </a:r>
            <a:r>
              <a:rPr lang="en-US" sz="1800" dirty="0">
                <a:solidFill>
                  <a:schemeClr val="accent6"/>
                </a:solidFill>
                <a:latin typeface="Amasis MT Pro Medium" panose="02040604050005020304" pitchFamily="18" charset="0"/>
              </a:rPr>
              <a:t>CALIBRATION</a:t>
            </a:r>
            <a:r>
              <a:rPr lang="en-US" sz="1800" dirty="0">
                <a:solidFill>
                  <a:prstClr val="black">
                    <a:hueOff val="0"/>
                    <a:satOff val="0"/>
                    <a:lumOff val="0"/>
                    <a:alphaOff val="0"/>
                  </a:prstClr>
                </a:solidFill>
                <a:latin typeface="Amasis MT Pro Medium" panose="02040604050005020304" pitchFamily="18" charset="0"/>
              </a:rPr>
              <a:t>.</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SELECT THE CUSTOM OPTION NEXT TO PRESET,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AND SELECT THE </a:t>
            </a:r>
            <a:r>
              <a:rPr lang="en-US" sz="1800" dirty="0">
                <a:solidFill>
                  <a:schemeClr val="accent6"/>
                </a:solidFill>
                <a:latin typeface="Amasis MT Pro Medium" panose="02040604050005020304" pitchFamily="18" charset="0"/>
              </a:rPr>
              <a:t>CALIBRATE</a:t>
            </a:r>
            <a:r>
              <a:rPr lang="en-US" sz="1800" dirty="0">
                <a:solidFill>
                  <a:prstClr val="black">
                    <a:hueOff val="0"/>
                    <a:satOff val="0"/>
                    <a:lumOff val="0"/>
                    <a:alphaOff val="0"/>
                  </a:prstClr>
                </a:solidFill>
                <a:latin typeface="Amasis MT Pro Medium" panose="02040604050005020304" pitchFamily="18" charset="0"/>
              </a:rPr>
              <a:t> OPTION:</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A CALIBRATION POPUP WILL OCCUR EXPLAINING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HOW TO CALIBRATE; SELECT OK.</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schemeClr val="accent6"/>
              </a:solidFill>
              <a:latin typeface="Amasis MT Pro Medium" panose="02040604050005020304" pitchFamily="18" charset="0"/>
            </a:endParaRPr>
          </a:p>
        </p:txBody>
      </p:sp>
      <p:pic>
        <p:nvPicPr>
          <p:cNvPr id="17" name="Picture 16">
            <a:extLst>
              <a:ext uri="{FF2B5EF4-FFF2-40B4-BE49-F238E27FC236}">
                <a16:creationId xmlns:a16="http://schemas.microsoft.com/office/drawing/2014/main" id="{2810827B-C4EB-3330-002E-2CC96571DB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0293" y="2653501"/>
            <a:ext cx="4407616" cy="1949206"/>
          </a:xfrm>
          <a:prstGeom prst="rect">
            <a:avLst/>
          </a:prstGeom>
        </p:spPr>
      </p:pic>
      <p:pic>
        <p:nvPicPr>
          <p:cNvPr id="3" name="Picture 2">
            <a:extLst>
              <a:ext uri="{FF2B5EF4-FFF2-40B4-BE49-F238E27FC236}">
                <a16:creationId xmlns:a16="http://schemas.microsoft.com/office/drawing/2014/main" id="{83A643A1-6F73-DD4C-F921-0987087A5ACD}"/>
              </a:ext>
            </a:extLst>
          </p:cNvPr>
          <p:cNvPicPr>
            <a:picLocks noChangeAspect="1"/>
          </p:cNvPicPr>
          <p:nvPr/>
        </p:nvPicPr>
        <p:blipFill>
          <a:blip r:embed="rId3"/>
          <a:stretch>
            <a:fillRect/>
          </a:stretch>
        </p:blipFill>
        <p:spPr>
          <a:xfrm>
            <a:off x="6470293" y="4777771"/>
            <a:ext cx="3970364" cy="1905165"/>
          </a:xfrm>
          <a:prstGeom prst="rect">
            <a:avLst/>
          </a:prstGeom>
        </p:spPr>
      </p:pic>
    </p:spTree>
    <p:extLst>
      <p:ext uri="{BB962C8B-B14F-4D97-AF65-F5344CB8AC3E}">
        <p14:creationId xmlns:p14="http://schemas.microsoft.com/office/powerpoint/2010/main" val="1579768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2B63393-77BB-CFC2-B694-7B383D5945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4E2AEC-BBDB-6251-455F-1AFF3D32200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EF4640-A9BA-7F1E-AB97-7EF631D539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DA7CD96C-E6FC-6889-DE50-5AA3FEA7F354}"/>
              </a:ext>
            </a:extLst>
          </p:cNvPr>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sp>
        <p:nvSpPr>
          <p:cNvPr id="9" name="Content Placeholder 2">
            <a:extLst>
              <a:ext uri="{FF2B5EF4-FFF2-40B4-BE49-F238E27FC236}">
                <a16:creationId xmlns:a16="http://schemas.microsoft.com/office/drawing/2014/main" id="{FBB77672-86C8-7232-9ECE-3CC8430A7C50}"/>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516741FF-7E26-59EC-3B16-319BC75C84E5}"/>
              </a:ext>
            </a:extLst>
          </p:cNvPr>
          <p:cNvSpPr>
            <a:spLocks noGrp="1"/>
          </p:cNvSpPr>
          <p:nvPr>
            <p:ph idx="1"/>
          </p:nvPr>
        </p:nvSpPr>
        <p:spPr>
          <a:xfrm>
            <a:off x="339437" y="2347414"/>
            <a:ext cx="10515600" cy="4702910"/>
          </a:xfrm>
        </p:spPr>
        <p:txBody>
          <a:bodyPr>
            <a:normAutofit/>
          </a:bodyPr>
          <a:lstStyle/>
          <a:p>
            <a:endParaRPr lang="en-US" sz="2200" dirty="0">
              <a:solidFill>
                <a:srgbClr val="0070C0"/>
              </a:solidFill>
              <a:latin typeface="Amasis MT Pro Medium" panose="02040604050005020304" pitchFamily="18" charset="0"/>
            </a:endParaRPr>
          </a:p>
          <a:p>
            <a:r>
              <a:rPr lang="en-US" sz="1800" dirty="0">
                <a:latin typeface="Amasis MT Pro Medium" panose="02040604050005020304" pitchFamily="18" charset="0"/>
              </a:rPr>
              <a:t>FOR CALIBRATION SELECT A DUCT WITH GIVEN DIMENTIONS &amp;</a:t>
            </a:r>
            <a:br>
              <a:rPr lang="en-US" sz="1800" dirty="0">
                <a:latin typeface="Amasis MT Pro Medium" panose="02040604050005020304" pitchFamily="18" charset="0"/>
              </a:rPr>
            </a:br>
            <a:r>
              <a:rPr lang="en-US" sz="1800" dirty="0">
                <a:latin typeface="Amasis MT Pro Medium" panose="02040604050005020304" pitchFamily="18" charset="0"/>
              </a:rPr>
              <a:t>MARK A LINE SEGMENT ALONG ITS DIAMETER. SEE IMG1:</a:t>
            </a:r>
          </a:p>
          <a:p>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a:p>
            <a:r>
              <a:rPr lang="en-US" sz="1700" dirty="0">
                <a:latin typeface="Amasis MT Pro Medium" panose="02040604050005020304" pitchFamily="18" charset="0"/>
              </a:rPr>
              <a:t>AFTER SELECTING THE TWO END POINTS, A POPUP</a:t>
            </a:r>
            <a:br>
              <a:rPr lang="en-US" sz="1700" dirty="0">
                <a:latin typeface="Amasis MT Pro Medium" panose="02040604050005020304" pitchFamily="18" charset="0"/>
              </a:rPr>
            </a:br>
            <a:r>
              <a:rPr lang="en-US" sz="1700" dirty="0">
                <a:latin typeface="Amasis MT Pro Medium" panose="02040604050005020304" pitchFamily="18" charset="0"/>
              </a:rPr>
              <a:t>WILL APPEAR ON THE SCREEN. SEE IMG2:</a:t>
            </a:r>
          </a:p>
          <a:p>
            <a:r>
              <a:rPr lang="en-US" sz="1700" dirty="0">
                <a:latin typeface="Amasis MT Pro Medium" panose="02040604050005020304" pitchFamily="18" charset="0"/>
              </a:rPr>
              <a:t>LEFT SIDE OF THE EQUATION COMES PRE-FILLED. </a:t>
            </a:r>
            <a:br>
              <a:rPr lang="en-US" sz="1700" dirty="0">
                <a:latin typeface="Amasis MT Pro Medium" panose="02040604050005020304" pitchFamily="18" charset="0"/>
              </a:rPr>
            </a:br>
            <a:r>
              <a:rPr lang="en-US" sz="1700" dirty="0">
                <a:latin typeface="Amasis MT Pro Medium" panose="02040604050005020304" pitchFamily="18" charset="0"/>
              </a:rPr>
              <a:t>ON THE RIGHT SIDE OF THE EQUATION, WE ENTER </a:t>
            </a:r>
            <a:br>
              <a:rPr lang="en-US" sz="1700" dirty="0">
                <a:latin typeface="Amasis MT Pro Medium" panose="02040604050005020304" pitchFamily="18" charset="0"/>
              </a:rPr>
            </a:br>
            <a:r>
              <a:rPr lang="en-US" sz="1700" dirty="0">
                <a:latin typeface="Amasis MT Pro Medium" panose="02040604050005020304" pitchFamily="18" charset="0"/>
              </a:rPr>
              <a:t>THE GIVEN WIDTH OF THE SELECTED DUCT AND ITS</a:t>
            </a:r>
            <a:br>
              <a:rPr lang="en-US" sz="1700" dirty="0">
                <a:latin typeface="Amasis MT Pro Medium" panose="02040604050005020304" pitchFamily="18" charset="0"/>
              </a:rPr>
            </a:br>
            <a:r>
              <a:rPr lang="en-US" sz="1700" dirty="0">
                <a:latin typeface="Amasis MT Pro Medium" panose="02040604050005020304" pitchFamily="18" charset="0"/>
              </a:rPr>
              <a:t>UNIT </a:t>
            </a:r>
            <a:r>
              <a:rPr lang="en-US" sz="1700" dirty="0">
                <a:solidFill>
                  <a:schemeClr val="accent6"/>
                </a:solidFill>
                <a:latin typeface="Amasis MT Pro Medium" panose="02040604050005020304" pitchFamily="18" charset="0"/>
              </a:rPr>
              <a:t>(MM/IN). </a:t>
            </a:r>
            <a:r>
              <a:rPr lang="en-US" sz="1700" dirty="0">
                <a:latin typeface="Amasis MT Pro Medium" panose="02040604050005020304" pitchFamily="18" charset="0"/>
              </a:rPr>
              <a:t>CLICK APPLY SCALE.</a:t>
            </a:r>
          </a:p>
        </p:txBody>
      </p:sp>
      <p:pic>
        <p:nvPicPr>
          <p:cNvPr id="13" name="Picture 12">
            <a:extLst>
              <a:ext uri="{FF2B5EF4-FFF2-40B4-BE49-F238E27FC236}">
                <a16:creationId xmlns:a16="http://schemas.microsoft.com/office/drawing/2014/main" id="{4520A38A-E5CA-FEB5-EAC6-67173C62DE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235476" y="2539738"/>
            <a:ext cx="2294289" cy="1508628"/>
          </a:xfrm>
          <a:prstGeom prst="rect">
            <a:avLst/>
          </a:prstGeom>
        </p:spPr>
      </p:pic>
      <p:pic>
        <p:nvPicPr>
          <p:cNvPr id="3" name="Picture 2">
            <a:extLst>
              <a:ext uri="{FF2B5EF4-FFF2-40B4-BE49-F238E27FC236}">
                <a16:creationId xmlns:a16="http://schemas.microsoft.com/office/drawing/2014/main" id="{4FF9DEF0-1FE3-61FB-4DB2-8EF6991D8F77}"/>
              </a:ext>
            </a:extLst>
          </p:cNvPr>
          <p:cNvPicPr>
            <a:picLocks noChangeAspect="1"/>
          </p:cNvPicPr>
          <p:nvPr/>
        </p:nvPicPr>
        <p:blipFill>
          <a:blip r:embed="rId3"/>
          <a:stretch>
            <a:fillRect/>
          </a:stretch>
        </p:blipFill>
        <p:spPr>
          <a:xfrm>
            <a:off x="6832602" y="4461220"/>
            <a:ext cx="4592564" cy="2031655"/>
          </a:xfrm>
          <a:prstGeom prst="rect">
            <a:avLst/>
          </a:prstGeom>
        </p:spPr>
      </p:pic>
    </p:spTree>
    <p:extLst>
      <p:ext uri="{BB962C8B-B14F-4D97-AF65-F5344CB8AC3E}">
        <p14:creationId xmlns:p14="http://schemas.microsoft.com/office/powerpoint/2010/main" val="1857918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Rectangle 1"/>
          <p:cNvSpPr/>
          <p:nvPr/>
        </p:nvSpPr>
        <p:spPr>
          <a:xfrm>
            <a:off x="360630" y="2583894"/>
            <a:ext cx="10110725" cy="3631763"/>
          </a:xfrm>
          <a:prstGeom prst="rect">
            <a:avLst/>
          </a:prstGeom>
        </p:spPr>
        <p:txBody>
          <a:bodyPr wrap="square">
            <a:spAutoFit/>
          </a:bodyPr>
          <a:lstStyle/>
          <a:p>
            <a:r>
              <a:rPr lang="en-US" sz="2000" dirty="0">
                <a:solidFill>
                  <a:srgbClr val="0070C0"/>
                </a:solidFill>
                <a:latin typeface="Amasis MT Pro Medium" panose="02040604050005020304" pitchFamily="18" charset="0"/>
              </a:rPr>
              <a:t>DUCT REDUCER:</a:t>
            </a:r>
          </a:p>
          <a:p>
            <a:endParaRPr lang="en-US" sz="2000" dirty="0">
              <a:solidFill>
                <a:srgbClr val="0070C0"/>
              </a:solidFill>
              <a:latin typeface="Amasis MT Pro Medium" panose="02040604050005020304" pitchFamily="18" charset="0"/>
            </a:endParaRPr>
          </a:p>
          <a:p>
            <a:r>
              <a:rPr lang="en-US" dirty="0">
                <a:latin typeface="Amasis MT Pro Medium" panose="02040604050005020304" pitchFamily="18" charset="0"/>
              </a:rPr>
              <a:t>IN CASE OF DUCT REDUCER, INCLUDE THE REDUCER</a:t>
            </a:r>
            <a:br>
              <a:rPr lang="en-US" dirty="0">
                <a:latin typeface="Amasis MT Pro Medium" panose="02040604050005020304" pitchFamily="18" charset="0"/>
              </a:rPr>
            </a:br>
            <a:r>
              <a:rPr lang="en-US" dirty="0">
                <a:latin typeface="Amasis MT Pro Medium" panose="02040604050005020304" pitchFamily="18" charset="0"/>
              </a:rPr>
              <a:t>SECTION AS PART OF THE </a:t>
            </a:r>
            <a:r>
              <a:rPr lang="en-US" dirty="0">
                <a:solidFill>
                  <a:srgbClr val="0070C0"/>
                </a:solidFill>
                <a:latin typeface="Amasis MT Pro Medium" panose="02040604050005020304" pitchFamily="18" charset="0"/>
              </a:rPr>
              <a:t>LARGER DUCT</a:t>
            </a:r>
            <a:r>
              <a:rPr lang="en-US" dirty="0">
                <a:latin typeface="Amasis MT Pro Medium" panose="02040604050005020304" pitchFamily="18" charset="0"/>
              </a:rPr>
              <a:t> AS SHOWN:</a:t>
            </a:r>
          </a:p>
          <a:p>
            <a:r>
              <a:rPr lang="en-US" sz="2000" dirty="0">
                <a:latin typeface="Amasis MT Pro Medium" panose="02040604050005020304" pitchFamily="18" charset="0"/>
              </a:rPr>
              <a:t/>
            </a:r>
            <a:br>
              <a:rPr lang="en-US" sz="2000" dirty="0">
                <a:latin typeface="Amasis MT Pro Medium" panose="02040604050005020304" pitchFamily="18" charset="0"/>
              </a:rPr>
            </a:br>
            <a:r>
              <a:rPr lang="en-US" sz="2000" dirty="0">
                <a:latin typeface="Amasis MT Pro Medium" panose="02040604050005020304" pitchFamily="18" charset="0"/>
              </a:rPr>
              <a:t/>
            </a:r>
            <a:br>
              <a:rPr lang="en-US" sz="2000" dirty="0">
                <a:latin typeface="Amasis MT Pro Medium" panose="02040604050005020304" pitchFamily="18" charset="0"/>
              </a:rPr>
            </a:br>
            <a:endParaRPr lang="en-US" sz="2000" dirty="0">
              <a:latin typeface="Amasis MT Pro Medium" panose="02040604050005020304" pitchFamily="18" charset="0"/>
            </a:endParaRPr>
          </a:p>
          <a:p>
            <a:r>
              <a:rPr lang="en-US" sz="2000" dirty="0">
                <a:solidFill>
                  <a:srgbClr val="0070C0"/>
                </a:solidFill>
                <a:latin typeface="Amasis MT Pro Medium" panose="02040604050005020304" pitchFamily="18" charset="0"/>
              </a:rPr>
              <a:t>TRANSFER DUCT:</a:t>
            </a:r>
          </a:p>
          <a:p>
            <a:endParaRPr lang="en-US" sz="2000" dirty="0">
              <a:latin typeface="Amasis MT Pro Medium" panose="02040604050005020304" pitchFamily="18" charset="0"/>
            </a:endParaRPr>
          </a:p>
          <a:p>
            <a:r>
              <a:rPr lang="en-US" dirty="0">
                <a:latin typeface="Amasis MT Pro Medium" panose="02040604050005020304" pitchFamily="18" charset="0"/>
              </a:rPr>
              <a:t>FOR </a:t>
            </a:r>
            <a:r>
              <a:rPr lang="en-US" dirty="0">
                <a:solidFill>
                  <a:srgbClr val="0070C0"/>
                </a:solidFill>
                <a:latin typeface="Amasis MT Pro Medium" panose="02040604050005020304" pitchFamily="18" charset="0"/>
              </a:rPr>
              <a:t>TRANSFER DUCT</a:t>
            </a:r>
            <a:r>
              <a:rPr lang="en-US" dirty="0">
                <a:latin typeface="Amasis MT Pro Medium" panose="02040604050005020304" pitchFamily="18" charset="0"/>
              </a:rPr>
              <a:t>, USE RECT. DUCT TAG </a:t>
            </a:r>
          </a:p>
          <a:p>
            <a:r>
              <a:rPr lang="en-US" dirty="0">
                <a:latin typeface="Amasis MT Pro Medium" panose="02040604050005020304" pitchFamily="18" charset="0"/>
              </a:rPr>
              <a:t>DUCT SIZE</a:t>
            </a:r>
            <a:r>
              <a:rPr lang="en-US" dirty="0">
                <a:solidFill>
                  <a:srgbClr val="0070C0"/>
                </a:solidFill>
                <a:latin typeface="Amasis MT Pro Medium" panose="02040604050005020304" pitchFamily="18" charset="0"/>
              </a:rPr>
              <a:t> </a:t>
            </a:r>
            <a:r>
              <a:rPr lang="en-US" dirty="0">
                <a:latin typeface="Amasis MT Pro Medium" panose="02040604050005020304" pitchFamily="18" charset="0"/>
              </a:rPr>
              <a:t>TO BE SPECIFIED.</a:t>
            </a:r>
          </a:p>
          <a:p>
            <a:endParaRPr lang="en-US" dirty="0">
              <a:latin typeface="Amasis MT Pro Medium" panose="02040604050005020304" pitchFamily="18" charset="0"/>
            </a:endParaRPr>
          </a:p>
        </p:txBody>
      </p:sp>
      <p:pic>
        <p:nvPicPr>
          <p:cNvPr id="12" name="Picture 11">
            <a:extLst>
              <a:ext uri="{FF2B5EF4-FFF2-40B4-BE49-F238E27FC236}">
                <a16:creationId xmlns:a16="http://schemas.microsoft.com/office/drawing/2014/main" id="{E5791543-03D9-0814-D624-7F2F4609AA32}"/>
              </a:ext>
            </a:extLst>
          </p:cNvPr>
          <p:cNvPicPr>
            <a:picLocks noChangeAspect="1"/>
          </p:cNvPicPr>
          <p:nvPr/>
        </p:nvPicPr>
        <p:blipFill>
          <a:blip r:embed="rId2"/>
          <a:stretch>
            <a:fillRect/>
          </a:stretch>
        </p:blipFill>
        <p:spPr>
          <a:xfrm>
            <a:off x="7184596" y="2566529"/>
            <a:ext cx="3738574" cy="1944058"/>
          </a:xfrm>
          <a:prstGeom prst="rect">
            <a:avLst/>
          </a:prstGeom>
        </p:spPr>
      </p:pic>
      <p:sp>
        <p:nvSpPr>
          <p:cNvPr id="13" name="Title 5"/>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pic>
        <p:nvPicPr>
          <p:cNvPr id="4" name="Picture 3">
            <a:extLst>
              <a:ext uri="{FF2B5EF4-FFF2-40B4-BE49-F238E27FC236}">
                <a16:creationId xmlns:a16="http://schemas.microsoft.com/office/drawing/2014/main" id="{A52E21F8-9FE9-F734-1C65-EF50F0E92E80}"/>
              </a:ext>
            </a:extLst>
          </p:cNvPr>
          <p:cNvPicPr>
            <a:picLocks noChangeAspect="1"/>
          </p:cNvPicPr>
          <p:nvPr/>
        </p:nvPicPr>
        <p:blipFill>
          <a:blip r:embed="rId3"/>
          <a:stretch>
            <a:fillRect/>
          </a:stretch>
        </p:blipFill>
        <p:spPr>
          <a:xfrm>
            <a:off x="7184596" y="4729702"/>
            <a:ext cx="3738574" cy="1606854"/>
          </a:xfrm>
          <a:prstGeom prst="rect">
            <a:avLst/>
          </a:prstGeom>
        </p:spPr>
      </p:pic>
    </p:spTree>
    <p:extLst>
      <p:ext uri="{BB962C8B-B14F-4D97-AF65-F5344CB8AC3E}">
        <p14:creationId xmlns:p14="http://schemas.microsoft.com/office/powerpoint/2010/main" val="2831746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EE3B81E5-074C-A81B-2CDE-932181870505}"/>
              </a:ext>
            </a:extLst>
          </p:cNvPr>
          <p:cNvSpPr>
            <a:spLocks noGrp="1"/>
          </p:cNvSpPr>
          <p:nvPr>
            <p:ph idx="1"/>
          </p:nvPr>
        </p:nvSpPr>
        <p:spPr>
          <a:xfrm>
            <a:off x="339437" y="2347414"/>
            <a:ext cx="10515600" cy="4702910"/>
          </a:xfrm>
        </p:spPr>
        <p:txBody>
          <a:bodyPr>
            <a:normAutofit/>
          </a:bodyPr>
          <a:lstStyle/>
          <a:p>
            <a:pPr marL="0" indent="0">
              <a:buNone/>
            </a:pPr>
            <a:r>
              <a:rPr lang="en-US" sz="2200" dirty="0">
                <a:solidFill>
                  <a:srgbClr val="0070C0"/>
                </a:solidFill>
                <a:latin typeface="Amasis MT Pro Medium" panose="02040604050005020304" pitchFamily="18" charset="0"/>
              </a:rPr>
              <a:t/>
            </a:r>
            <a:br>
              <a:rPr lang="en-US" sz="2200" dirty="0">
                <a:solidFill>
                  <a:srgbClr val="0070C0"/>
                </a:solidFill>
                <a:latin typeface="Amasis MT Pro Medium" panose="02040604050005020304" pitchFamily="18" charset="0"/>
              </a:rPr>
            </a:br>
            <a:r>
              <a:rPr lang="en-US" sz="2200" dirty="0">
                <a:solidFill>
                  <a:srgbClr val="0070C0"/>
                </a:solidFill>
                <a:latin typeface="Amasis MT Pro Medium" panose="02040604050005020304" pitchFamily="18" charset="0"/>
              </a:rPr>
              <a:t>ACOUSTIC LINER/ ACOUSTIC INSULATION:</a:t>
            </a:r>
          </a:p>
          <a:p>
            <a:pPr marL="0" indent="0">
              <a:buNone/>
            </a:pPr>
            <a:endParaRPr lang="en-US" sz="2200" dirty="0">
              <a:solidFill>
                <a:srgbClr val="0070C0"/>
              </a:solidFill>
              <a:latin typeface="Amasis MT Pro Medium" panose="02040604050005020304" pitchFamily="18" charset="0"/>
            </a:endParaRPr>
          </a:p>
          <a:p>
            <a:r>
              <a:rPr lang="en-US" sz="1800" dirty="0">
                <a:latin typeface="Amasis MT Pro Medium" panose="02040604050005020304" pitchFamily="18" charset="0"/>
              </a:rPr>
              <a:t>ACOUSIC INSULATION IS USED IN DUCTS AS A DUCT-</a:t>
            </a:r>
            <a:br>
              <a:rPr lang="en-US" sz="1800" dirty="0">
                <a:latin typeface="Amasis MT Pro Medium" panose="02040604050005020304" pitchFamily="18" charset="0"/>
              </a:rPr>
            </a:br>
            <a:r>
              <a:rPr lang="en-US" sz="1800" dirty="0">
                <a:latin typeface="Amasis MT Pro Medium" panose="02040604050005020304" pitchFamily="18" charset="0"/>
              </a:rPr>
              <a:t>LINING TO REDUCE NOISE AND VIBRATIONS. </a:t>
            </a:r>
          </a:p>
          <a:p>
            <a:r>
              <a:rPr lang="en-US" sz="1800" dirty="0">
                <a:latin typeface="Amasis MT Pro Medium" panose="02040604050005020304" pitchFamily="18" charset="0"/>
              </a:rPr>
              <a:t>CHECK FOR LINEAR THICKNESS IN SCOPE OF WORK:</a:t>
            </a:r>
            <a:br>
              <a:rPr lang="en-US" sz="1800" dirty="0">
                <a:latin typeface="Amasis MT Pro Medium" panose="02040604050005020304" pitchFamily="18" charset="0"/>
              </a:rPr>
            </a:br>
            <a:r>
              <a:rPr lang="en-US" sz="1800" dirty="0">
                <a:solidFill>
                  <a:schemeClr val="accent6"/>
                </a:solidFill>
                <a:latin typeface="Amasis MT Pro Medium" panose="02040604050005020304" pitchFamily="18" charset="0"/>
              </a:rPr>
              <a:t>½” OR 1” THICKNESS </a:t>
            </a:r>
            <a:br>
              <a:rPr lang="en-US" sz="1800" dirty="0">
                <a:solidFill>
                  <a:schemeClr val="accent6"/>
                </a:solidFill>
                <a:latin typeface="Amasis MT Pro Medium" panose="02040604050005020304" pitchFamily="18" charset="0"/>
              </a:rPr>
            </a:br>
            <a:endParaRPr lang="en-US" sz="1800" dirty="0">
              <a:solidFill>
                <a:schemeClr val="accent6"/>
              </a:solidFill>
              <a:latin typeface="Amasis MT Pro Medium" panose="02040604050005020304" pitchFamily="18" charset="0"/>
            </a:endParaRPr>
          </a:p>
          <a:p>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p:txBody>
      </p:sp>
      <p:pic>
        <p:nvPicPr>
          <p:cNvPr id="13" name="Picture 12">
            <a:extLst>
              <a:ext uri="{FF2B5EF4-FFF2-40B4-BE49-F238E27FC236}">
                <a16:creationId xmlns:a16="http://schemas.microsoft.com/office/drawing/2014/main" id="{CA9CDDED-6107-4612-B1D6-E82454038F4A}"/>
              </a:ext>
            </a:extLst>
          </p:cNvPr>
          <p:cNvPicPr>
            <a:picLocks noChangeAspect="1"/>
          </p:cNvPicPr>
          <p:nvPr/>
        </p:nvPicPr>
        <p:blipFill>
          <a:blip r:embed="rId2"/>
          <a:stretch>
            <a:fillRect/>
          </a:stretch>
        </p:blipFill>
        <p:spPr>
          <a:xfrm>
            <a:off x="7077589" y="2596322"/>
            <a:ext cx="4444405" cy="1910223"/>
          </a:xfrm>
          <a:prstGeom prst="rect">
            <a:avLst/>
          </a:prstGeom>
        </p:spPr>
      </p:pic>
    </p:spTree>
    <p:extLst>
      <p:ext uri="{BB962C8B-B14F-4D97-AF65-F5344CB8AC3E}">
        <p14:creationId xmlns:p14="http://schemas.microsoft.com/office/powerpoint/2010/main" val="3433556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12" name="Content Placeholder 2">
            <a:extLst>
              <a:ext uri="{FF2B5EF4-FFF2-40B4-BE49-F238E27FC236}">
                <a16:creationId xmlns:a16="http://schemas.microsoft.com/office/drawing/2014/main" id="{B68438A0-43B6-597F-8C9E-55D24DAB995D}"/>
              </a:ext>
            </a:extLst>
          </p:cNvPr>
          <p:cNvSpPr txBox="1">
            <a:spLocks/>
          </p:cNvSpPr>
          <p:nvPr/>
        </p:nvSpPr>
        <p:spPr>
          <a:xfrm>
            <a:off x="365621" y="2520215"/>
            <a:ext cx="5728855"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latin typeface="Amasis MT Pro Medium" panose="02040604050005020304" pitchFamily="18" charset="0"/>
              </a:rPr>
              <a:t>MAKE CSV OF OUR FILE.</a:t>
            </a:r>
          </a:p>
          <a:p>
            <a:pPr algn="just"/>
            <a:r>
              <a:rPr lang="en-US" sz="2000" dirty="0">
                <a:latin typeface="Amasis MT Pro Medium" panose="02040604050005020304" pitchFamily="18" charset="0"/>
              </a:rPr>
              <a:t>MAKE IN EXCEL FORMAT.</a:t>
            </a:r>
          </a:p>
          <a:p>
            <a:pPr algn="just"/>
            <a:r>
              <a:rPr lang="en-US" sz="2000" dirty="0">
                <a:latin typeface="Amasis MT Pro Medium" panose="02040604050005020304" pitchFamily="18" charset="0"/>
              </a:rPr>
              <a:t>MAKE 3 DIFFERENT SHEETS IN EXCEL FOR </a:t>
            </a:r>
          </a:p>
          <a:p>
            <a:pPr marL="514350" indent="-514350" algn="just">
              <a:buFont typeface="+mj-lt"/>
              <a:buAutoNum type="romanLcPeriod"/>
            </a:pPr>
            <a:r>
              <a:rPr lang="en-US" sz="2000" dirty="0">
                <a:latin typeface="Amasis MT Pro Medium" panose="02040604050005020304" pitchFamily="18" charset="0"/>
              </a:rPr>
              <a:t>DUCTS </a:t>
            </a:r>
          </a:p>
          <a:p>
            <a:pPr marL="514350" indent="-514350" algn="just">
              <a:buFont typeface="+mj-lt"/>
              <a:buAutoNum type="romanLcPeriod"/>
            </a:pPr>
            <a:r>
              <a:rPr lang="en-US" sz="2000" dirty="0">
                <a:latin typeface="Amasis MT Pro Medium" panose="02040604050005020304" pitchFamily="18" charset="0"/>
              </a:rPr>
              <a:t>ACCESSORIES-RISER, ELBOW, T-VANES, FLEX DUCT, DAMPERS</a:t>
            </a:r>
          </a:p>
          <a:p>
            <a:pPr marL="514350" indent="-514350" algn="just">
              <a:buFont typeface="+mj-lt"/>
              <a:buAutoNum type="romanLcPeriod"/>
            </a:pPr>
            <a:r>
              <a:rPr lang="en-US" sz="2000" dirty="0">
                <a:latin typeface="Amasis MT Pro Medium" panose="02040604050005020304" pitchFamily="18" charset="0"/>
              </a:rPr>
              <a:t>DEMOLITION DUCT &amp; RISER</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788" y="2441709"/>
            <a:ext cx="5098578" cy="4129671"/>
          </a:xfrm>
          <a:prstGeom prst="rect">
            <a:avLst/>
          </a:prstGeom>
        </p:spPr>
      </p:pic>
    </p:spTree>
    <p:extLst>
      <p:ext uri="{BB962C8B-B14F-4D97-AF65-F5344CB8AC3E}">
        <p14:creationId xmlns:p14="http://schemas.microsoft.com/office/powerpoint/2010/main" val="3596749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4304D5A-50D7-46A2-9A36-39FF81F02D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FC05B8-E472-54C1-A81A-6E657B4450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C3F365D-00C9-960A-CA32-F92797A04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B17F13E8-BF10-885D-4CA8-FD741783180B}"/>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27610BB0-FC17-C099-2FEC-2F4D9E78FC69}"/>
              </a:ext>
            </a:extLst>
          </p:cNvPr>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4" name="TextBox 3">
            <a:extLst>
              <a:ext uri="{FF2B5EF4-FFF2-40B4-BE49-F238E27FC236}">
                <a16:creationId xmlns:a16="http://schemas.microsoft.com/office/drawing/2014/main" id="{05FC651C-5CCB-6C6D-BFE3-1CB732B1751B}"/>
              </a:ext>
            </a:extLst>
          </p:cNvPr>
          <p:cNvSpPr txBox="1"/>
          <p:nvPr/>
        </p:nvSpPr>
        <p:spPr>
          <a:xfrm>
            <a:off x="312983" y="2148013"/>
            <a:ext cx="11879017" cy="8586966"/>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CODES AND ACCESSORIES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CODE 1 = 1/2 INCH ACOUSTICAL INSULATION.</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CODE 21 = 1 INCH ACOUSTICAL INSULATION.</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7 = T VANES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71 = T VANES DUCT SIZE FOR GREATER THAN 30”</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8 = CANEVAS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10 = FIRE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100 = FIRE SMOKE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11 = MOTORIZED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12 = GRAVITY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13 = MANUAL BALANCING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131 = MANUAL BALANCING DAMPER FOR DUCT SIZE GREATER THAN 30”</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14 = MESH</a:t>
            </a: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173584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3CC7422-51D7-6EDA-58D2-C5DC8D9600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12E24E-2F3F-79F9-C47C-5A30A28008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B9F3A55-F833-27B7-A27F-BF669799F4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1898EF30-9AA7-D4BD-A2B1-5DBDB50DEA11}"/>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1FC8C891-E04D-B2AD-A0E5-86919F141BCA}"/>
              </a:ext>
            </a:extLst>
          </p:cNvPr>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4" name="TextBox 3">
            <a:extLst>
              <a:ext uri="{FF2B5EF4-FFF2-40B4-BE49-F238E27FC236}">
                <a16:creationId xmlns:a16="http://schemas.microsoft.com/office/drawing/2014/main" id="{EFF0E68F-CE74-9DC4-C55B-48701DD02CB1}"/>
              </a:ext>
            </a:extLst>
          </p:cNvPr>
          <p:cNvSpPr txBox="1"/>
          <p:nvPr/>
        </p:nvSpPr>
        <p:spPr>
          <a:xfrm>
            <a:off x="312983" y="2148013"/>
            <a:ext cx="11879017" cy="6001643"/>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SYSTEM</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PROJECT HAS MULTIPLE SYSTEMS LIKE FANS, ROOFTOP UNITS, HEAT EXHANGES WE HAVE TO ADD THEIR NAME IN THE </a:t>
            </a:r>
            <a:r>
              <a:rPr lang="en-US" sz="1400" b="1" dirty="0">
                <a:latin typeface="Times New Roman" panose="02020603050405020304" pitchFamily="18" charset="0"/>
                <a:cs typeface="Times New Roman" panose="02020603050405020304" pitchFamily="18" charset="0"/>
              </a:rPr>
              <a:t>UNITS </a:t>
            </a:r>
            <a:r>
              <a:rPr lang="en-US" sz="1400" dirty="0">
                <a:latin typeface="Times New Roman" panose="02020603050405020304" pitchFamily="18" charset="0"/>
                <a:cs typeface="Times New Roman" panose="02020603050405020304" pitchFamily="18" charset="0"/>
              </a:rPr>
              <a:t>OF CUSTOM SECTION OF BLUEBEAM. </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 VJR EXCEL WE HAVE TO PROVIDE SEPARATE SYSTEMS IN RECTANGULAR DUCTS ALONG WITH THEIR CORRESPONDING ACCESSORIES</a:t>
            </a: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dirty="0"/>
          </a:p>
        </p:txBody>
      </p:sp>
      <p:pic>
        <p:nvPicPr>
          <p:cNvPr id="5" name="Picture 4">
            <a:extLst>
              <a:ext uri="{FF2B5EF4-FFF2-40B4-BE49-F238E27FC236}">
                <a16:creationId xmlns:a16="http://schemas.microsoft.com/office/drawing/2014/main" id="{4440494F-3E53-F8CE-F2EC-4A6E0135EEF5}"/>
              </a:ext>
            </a:extLst>
          </p:cNvPr>
          <p:cNvPicPr>
            <a:picLocks noChangeAspect="1"/>
          </p:cNvPicPr>
          <p:nvPr/>
        </p:nvPicPr>
        <p:blipFill>
          <a:blip r:embed="rId2"/>
          <a:stretch>
            <a:fillRect/>
          </a:stretch>
        </p:blipFill>
        <p:spPr>
          <a:xfrm>
            <a:off x="202518" y="4273820"/>
            <a:ext cx="4688601" cy="2446428"/>
          </a:xfrm>
          <a:prstGeom prst="rect">
            <a:avLst/>
          </a:prstGeom>
        </p:spPr>
      </p:pic>
      <p:pic>
        <p:nvPicPr>
          <p:cNvPr id="7" name="Picture 6">
            <a:extLst>
              <a:ext uri="{FF2B5EF4-FFF2-40B4-BE49-F238E27FC236}">
                <a16:creationId xmlns:a16="http://schemas.microsoft.com/office/drawing/2014/main" id="{CCD4535A-AABA-9BAC-53AD-8B47E258459A}"/>
              </a:ext>
            </a:extLst>
          </p:cNvPr>
          <p:cNvPicPr>
            <a:picLocks noChangeAspect="1"/>
          </p:cNvPicPr>
          <p:nvPr/>
        </p:nvPicPr>
        <p:blipFill>
          <a:blip r:embed="rId3"/>
          <a:stretch>
            <a:fillRect/>
          </a:stretch>
        </p:blipFill>
        <p:spPr>
          <a:xfrm>
            <a:off x="5204102" y="4845231"/>
            <a:ext cx="6539972" cy="1152959"/>
          </a:xfrm>
          <a:prstGeom prst="rect">
            <a:avLst/>
          </a:prstGeom>
        </p:spPr>
      </p:pic>
    </p:spTree>
    <p:extLst>
      <p:ext uri="{BB962C8B-B14F-4D97-AF65-F5344CB8AC3E}">
        <p14:creationId xmlns:p14="http://schemas.microsoft.com/office/powerpoint/2010/main" val="1075671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82914"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RECTANGULAR DUCT</a:t>
            </a:r>
          </a:p>
        </p:txBody>
      </p:sp>
      <p:sp>
        <p:nvSpPr>
          <p:cNvPr id="4" name="TextBox 3"/>
          <p:cNvSpPr txBox="1"/>
          <p:nvPr/>
        </p:nvSpPr>
        <p:spPr>
          <a:xfrm>
            <a:off x="176145" y="2148013"/>
            <a:ext cx="5756563" cy="4708981"/>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FOR RECTANGULAR DUCT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 TO OUR CSV EXCEL FILE.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RECTANGULAR DUCTS, PROVIDE BOTH DIMENSIONS (LENGTH X WIDTH) AND THE DUCT LENGTH.</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 SIZE IS GIVEN IN MM, SELECT “M” (LENGTH IN METERS).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 SIZE IS GIVEN IN INCHES, SELECT “A” (LENGTH IN FEET).</a:t>
            </a:r>
          </a:p>
          <a:p>
            <a:pPr algn="just"/>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736404928"/>
              </p:ext>
            </p:extLst>
          </p:nvPr>
        </p:nvGraphicFramePr>
        <p:xfrm>
          <a:off x="7436107" y="5659479"/>
          <a:ext cx="3022601" cy="1110615"/>
        </p:xfrm>
        <a:graphic>
          <a:graphicData uri="http://schemas.openxmlformats.org/drawingml/2006/table">
            <a:tbl>
              <a:tblPr>
                <a:tableStyleId>{5C22544A-7EE6-4342-B048-85BDC9FD1C3A}</a:tableStyleId>
              </a:tblPr>
              <a:tblGrid>
                <a:gridCol w="720118">
                  <a:extLst>
                    <a:ext uri="{9D8B030D-6E8A-4147-A177-3AD203B41FA5}">
                      <a16:colId xmlns:a16="http://schemas.microsoft.com/office/drawing/2014/main" val="841300778"/>
                    </a:ext>
                  </a:extLst>
                </a:gridCol>
                <a:gridCol w="435861">
                  <a:extLst>
                    <a:ext uri="{9D8B030D-6E8A-4147-A177-3AD203B41FA5}">
                      <a16:colId xmlns:a16="http://schemas.microsoft.com/office/drawing/2014/main" val="1988685043"/>
                    </a:ext>
                  </a:extLst>
                </a:gridCol>
                <a:gridCol w="634841">
                  <a:extLst>
                    <a:ext uri="{9D8B030D-6E8A-4147-A177-3AD203B41FA5}">
                      <a16:colId xmlns:a16="http://schemas.microsoft.com/office/drawing/2014/main" val="823747793"/>
                    </a:ext>
                  </a:extLst>
                </a:gridCol>
                <a:gridCol w="435861">
                  <a:extLst>
                    <a:ext uri="{9D8B030D-6E8A-4147-A177-3AD203B41FA5}">
                      <a16:colId xmlns:a16="http://schemas.microsoft.com/office/drawing/2014/main" val="3697452022"/>
                    </a:ext>
                  </a:extLst>
                </a:gridCol>
                <a:gridCol w="795920">
                  <a:extLst>
                    <a:ext uri="{9D8B030D-6E8A-4147-A177-3AD203B41FA5}">
                      <a16:colId xmlns:a16="http://schemas.microsoft.com/office/drawing/2014/main" val="2625389501"/>
                    </a:ext>
                  </a:extLst>
                </a:gridCol>
              </a:tblGrid>
              <a:tr h="129540">
                <a:tc gridSpan="5">
                  <a:txBody>
                    <a:bodyPr/>
                    <a:lstStyle/>
                    <a:p>
                      <a:pPr algn="ctr" fontAlgn="b"/>
                      <a:r>
                        <a:rPr lang="en-US" sz="800" u="none" strike="noStrike">
                          <a:effectLst/>
                        </a:rPr>
                        <a:t>CALIBRE DE TÔLE</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46706956"/>
                  </a:ext>
                </a:extLst>
              </a:tr>
              <a:tr h="161925">
                <a:tc gridSpan="2">
                  <a:txBody>
                    <a:bodyPr/>
                    <a:lstStyle/>
                    <a:p>
                      <a:pPr algn="ctr" fontAlgn="b"/>
                      <a:r>
                        <a:rPr lang="en-US" sz="800" u="none" strike="noStrike">
                          <a:effectLst/>
                        </a:rPr>
                        <a:t>METRIQUE</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tc>
                  <a:txBody>
                    <a:bodyPr/>
                    <a:lstStyle/>
                    <a:p>
                      <a:pPr algn="ctr" fontAlgn="b"/>
                      <a:r>
                        <a:rPr lang="en-US" sz="800" u="none" strike="noStrike">
                          <a:effectLst/>
                        </a:rPr>
                        <a:t>M</a:t>
                      </a:r>
                      <a:endParaRPr lang="en-US" sz="800" b="1" i="0" u="none" strike="noStrike">
                        <a:effectLst/>
                        <a:latin typeface="Arial" panose="020B0604020202020204" pitchFamily="34" charset="0"/>
                      </a:endParaRPr>
                    </a:p>
                  </a:txBody>
                  <a:tcPr marL="0" marR="0" marT="0" marB="0" anchor="b"/>
                </a:tc>
                <a:tc gridSpan="2">
                  <a:txBody>
                    <a:bodyPr/>
                    <a:lstStyle/>
                    <a:p>
                      <a:pPr algn="ctr" fontAlgn="b"/>
                      <a:r>
                        <a:rPr lang="en-US" sz="800" u="none" strike="noStrike">
                          <a:effectLst/>
                        </a:rPr>
                        <a:t>ANGLAIS</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extLst>
                  <a:ext uri="{0D108BD9-81ED-4DB2-BD59-A6C34878D82A}">
                    <a16:rowId xmlns:a16="http://schemas.microsoft.com/office/drawing/2014/main" val="1017817968"/>
                  </a:ext>
                </a:extLst>
              </a:tr>
              <a:tr h="161925">
                <a:tc>
                  <a:txBody>
                    <a:bodyPr/>
                    <a:lstStyle/>
                    <a:p>
                      <a:pPr algn="ctr" fontAlgn="b"/>
                      <a:r>
                        <a:rPr lang="en-US" sz="800" u="none" strike="noStrike">
                          <a:effectLst/>
                        </a:rPr>
                        <a:t>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305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26</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12</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1480453231"/>
                  </a:ext>
                </a:extLst>
              </a:tr>
              <a:tr h="161925">
                <a:tc>
                  <a:txBody>
                    <a:bodyPr/>
                    <a:lstStyle/>
                    <a:p>
                      <a:pPr algn="ctr" fontAlgn="b"/>
                      <a:r>
                        <a:rPr lang="en-US" sz="800" u="none" strike="noStrike">
                          <a:effectLst/>
                        </a:rPr>
                        <a:t>310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750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24</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dirty="0">
                          <a:effectLst/>
                        </a:rPr>
                        <a:t>13</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a:effectLst/>
                        </a:rPr>
                        <a:t>30</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2613693215"/>
                  </a:ext>
                </a:extLst>
              </a:tr>
              <a:tr h="161925">
                <a:tc>
                  <a:txBody>
                    <a:bodyPr/>
                    <a:lstStyle/>
                    <a:p>
                      <a:pPr algn="ctr" fontAlgn="b"/>
                      <a:r>
                        <a:rPr lang="en-US" sz="800" u="none" strike="noStrike">
                          <a:effectLst/>
                        </a:rPr>
                        <a:t>755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1500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22</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31</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59</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3195595055"/>
                  </a:ext>
                </a:extLst>
              </a:tr>
              <a:tr h="161925">
                <a:tc>
                  <a:txBody>
                    <a:bodyPr/>
                    <a:lstStyle/>
                    <a:p>
                      <a:pPr algn="ctr" fontAlgn="b"/>
                      <a:r>
                        <a:rPr lang="en-US" sz="800" u="none" strike="noStrike">
                          <a:effectLst/>
                        </a:rPr>
                        <a:t>1505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2100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20</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a:effectLst/>
                        </a:rPr>
                        <a:t>60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82</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1690682164"/>
                  </a:ext>
                </a:extLst>
              </a:tr>
              <a:tr h="171450">
                <a:tc>
                  <a:txBody>
                    <a:bodyPr/>
                    <a:lstStyle/>
                    <a:p>
                      <a:pPr algn="ctr" fontAlgn="b"/>
                      <a:r>
                        <a:rPr lang="en-US" sz="800" u="none" strike="noStrike">
                          <a:effectLst/>
                        </a:rPr>
                        <a:t>2105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&amp;plus</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18</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83</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&amp;plus</a:t>
                      </a:r>
                      <a:endParaRPr lang="en-US" sz="800" b="0" i="0" u="none" strike="noStrike" dirty="0">
                        <a:effectLst/>
                        <a:latin typeface="Arial" panose="020B0604020202020204" pitchFamily="34" charset="0"/>
                      </a:endParaRPr>
                    </a:p>
                  </a:txBody>
                  <a:tcPr marL="0" marR="0" marT="0" marB="0" anchor="b"/>
                </a:tc>
                <a:extLst>
                  <a:ext uri="{0D108BD9-81ED-4DB2-BD59-A6C34878D82A}">
                    <a16:rowId xmlns:a16="http://schemas.microsoft.com/office/drawing/2014/main" val="2948207850"/>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1016" y="2390129"/>
            <a:ext cx="4812784" cy="3218550"/>
          </a:xfrm>
          <a:prstGeom prst="rect">
            <a:avLst/>
          </a:prstGeom>
        </p:spPr>
      </p:pic>
    </p:spTree>
    <p:extLst>
      <p:ext uri="{BB962C8B-B14F-4D97-AF65-F5344CB8AC3E}">
        <p14:creationId xmlns:p14="http://schemas.microsoft.com/office/powerpoint/2010/main" val="1708148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2689" y="2941839"/>
            <a:ext cx="5845472" cy="903939"/>
          </a:xfrm>
          <a:prstGeom prst="rect">
            <a:avLst/>
          </a:prstGeom>
        </p:spPr>
      </p:pic>
      <p:sp>
        <p:nvSpPr>
          <p:cNvPr id="11" name="Rectangle 10"/>
          <p:cNvSpPr/>
          <p:nvPr/>
        </p:nvSpPr>
        <p:spPr>
          <a:xfrm>
            <a:off x="157278" y="2388658"/>
            <a:ext cx="8022132"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RISER - HOW TO ADD RISER DETAILS IN VJR SHEET</a:t>
            </a:r>
          </a:p>
        </p:txBody>
      </p:sp>
      <p:sp>
        <p:nvSpPr>
          <p:cNvPr id="7" name="Rectangle 6"/>
          <p:cNvSpPr/>
          <p:nvPr/>
        </p:nvSpPr>
        <p:spPr>
          <a:xfrm>
            <a:off x="157017" y="2850323"/>
            <a:ext cx="5828655" cy="1631216"/>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RISER DETAILS IN RECTANGULAR DUCT COLUMN &amp; ADD "RI" AS INSTALLATION TYPE COLUMN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RISER LENGTH TO BE IN METERS (SAME AS RECTANGULAR)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292" y="4489243"/>
            <a:ext cx="4972744" cy="2172003"/>
          </a:xfrm>
          <a:prstGeom prst="rect">
            <a:avLst/>
          </a:prstGeom>
        </p:spPr>
      </p:pic>
      <p:sp>
        <p:nvSpPr>
          <p:cNvPr id="5" name="Rectangle 4"/>
          <p:cNvSpPr/>
          <p:nvPr/>
        </p:nvSpPr>
        <p:spPr>
          <a:xfrm>
            <a:off x="138227" y="4948968"/>
            <a:ext cx="6096000" cy="2000548"/>
          </a:xfrm>
          <a:prstGeom prst="rect">
            <a:avLst/>
          </a:prstGeom>
        </p:spPr>
        <p:txBody>
          <a:bodyPr>
            <a:spAutoFit/>
          </a:bodyPr>
          <a:lstStyle/>
          <a:p>
            <a:pPr algn="just"/>
            <a:r>
              <a:rPr lang="en-US" sz="2400" b="1" u="sng" dirty="0">
                <a:latin typeface="Times New Roman" panose="02020603050405020304" pitchFamily="18" charset="0"/>
                <a:cs typeface="Times New Roman" panose="02020603050405020304" pitchFamily="18" charset="0"/>
              </a:rPr>
              <a:t>ACCESSORIES : </a:t>
            </a:r>
          </a:p>
          <a:p>
            <a:pPr algn="just"/>
            <a:r>
              <a:rPr lang="en-US" sz="2000" dirty="0">
                <a:latin typeface="Times New Roman" panose="02020603050405020304" pitchFamily="18" charset="0"/>
                <a:cs typeface="Times New Roman" panose="02020603050405020304" pitchFamily="18" charset="0"/>
              </a:rPr>
              <a:t>IF THE NUMBER OF ACCESSORIES EXCEEDS THE FOUR COLUMNS, REPEAT THE SAME DUCT SIZE IN THE NEXT ROW, KEEP THE DUCT TOTAL LENGTH AS ZERO, AND CONTINUE ADDING THE REMAINING ACCESSORIES.</a:t>
            </a:r>
          </a:p>
        </p:txBody>
      </p:sp>
    </p:spTree>
    <p:extLst>
      <p:ext uri="{BB962C8B-B14F-4D97-AF65-F5344CB8AC3E}">
        <p14:creationId xmlns:p14="http://schemas.microsoft.com/office/powerpoint/2010/main" val="1742557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p>
        </p:txBody>
      </p:sp>
      <p:sp>
        <p:nvSpPr>
          <p:cNvPr id="4" name="Rectangle 3"/>
          <p:cNvSpPr/>
          <p:nvPr/>
        </p:nvSpPr>
        <p:spPr>
          <a:xfrm>
            <a:off x="238622" y="2263605"/>
            <a:ext cx="6096000" cy="4678204"/>
          </a:xfrm>
          <a:prstGeom prst="rect">
            <a:avLst/>
          </a:prstGeom>
        </p:spPr>
        <p:txBody>
          <a:bodyPr>
            <a:spAutoFit/>
          </a:bodyPr>
          <a:lstStyle/>
          <a:p>
            <a:pPr algn="just"/>
            <a:r>
              <a:rPr lang="en-US" sz="2000" dirty="0">
                <a:latin typeface="Times New Roman" panose="02020603050405020304" pitchFamily="18" charset="0"/>
                <a:cs typeface="Times New Roman" panose="02020603050405020304" pitchFamily="18" charset="0"/>
              </a:rPr>
              <a:t>WHILE SELECTING THE DUCT TYPE, REFER TO THE CUSTOMER NOTES, WHICH INDICATE THE PRESSURE TYPE OF THE DUCT,</a:t>
            </a:r>
          </a:p>
          <a:p>
            <a:pPr algn="just"/>
            <a:r>
              <a:rPr lang="en-US" sz="2000" dirty="0">
                <a:latin typeface="Times New Roman" panose="02020603050405020304" pitchFamily="18" charset="0"/>
                <a:cs typeface="Times New Roman" panose="02020603050405020304" pitchFamily="18" charset="0"/>
              </a:rPr>
              <a:t>E.G., </a:t>
            </a:r>
          </a:p>
          <a:p>
            <a:pPr algn="just"/>
            <a:r>
              <a:rPr lang="en-US" sz="2000" dirty="0">
                <a:latin typeface="Times New Roman" panose="02020603050405020304" pitchFamily="18" charset="0"/>
                <a:cs typeface="Times New Roman" panose="02020603050405020304" pitchFamily="18" charset="0"/>
              </a:rPr>
              <a:t>BP: LOW PRESSURE  </a:t>
            </a:r>
          </a:p>
          <a:p>
            <a:pPr algn="just"/>
            <a:r>
              <a:rPr lang="en-US" sz="2000" dirty="0">
                <a:latin typeface="Times New Roman" panose="02020603050405020304" pitchFamily="18" charset="0"/>
                <a:cs typeface="Times New Roman" panose="02020603050405020304" pitchFamily="18" charset="0"/>
              </a:rPr>
              <a:t>MP: MEDIUM PRESSURE.</a:t>
            </a:r>
          </a:p>
          <a:p>
            <a:pPr algn="just"/>
            <a:r>
              <a:rPr lang="en-US" sz="2000" dirty="0">
                <a:latin typeface="Times New Roman" panose="02020603050405020304" pitchFamily="18" charset="0"/>
                <a:cs typeface="Times New Roman" panose="02020603050405020304" pitchFamily="18" charset="0"/>
              </a:rPr>
              <a:t>HP: HIGH PRESSURE</a:t>
            </a:r>
          </a:p>
          <a:p>
            <a:pPr algn="just"/>
            <a:r>
              <a:rPr lang="en-US" sz="2000" dirty="0">
                <a:latin typeface="Times New Roman" panose="02020603050405020304" pitchFamily="18" charset="0"/>
                <a:cs typeface="Times New Roman" panose="02020603050405020304" pitchFamily="18" charset="0"/>
              </a:rPr>
              <a:t>IN THE INSTALLATION COLUMN:</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ALL DUCT SIZES ARE LESS THAN 36 INCHES, SELECT </a:t>
            </a:r>
            <a:r>
              <a:rPr lang="en-US" sz="2000" b="1" dirty="0">
                <a:latin typeface="Times New Roman" panose="02020603050405020304" pitchFamily="18" charset="0"/>
                <a:cs typeface="Times New Roman" panose="02020603050405020304" pitchFamily="18" charset="0"/>
              </a:rPr>
              <a:t>HA.</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ANY DUCT PARAMETER (WIDTH OR HEIGHT) EXCEEDS 36 INCHES, SELECT </a:t>
            </a:r>
            <a:r>
              <a:rPr lang="en-US" sz="2000" b="1" dirty="0">
                <a:latin typeface="Times New Roman" panose="02020603050405020304" pitchFamily="18" charset="0"/>
                <a:cs typeface="Times New Roman" panose="02020603050405020304" pitchFamily="18" charset="0"/>
              </a:rPr>
              <a:t>RE</a:t>
            </a:r>
            <a:r>
              <a:rPr lang="en-US" sz="20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RISERS, SELECT </a:t>
            </a:r>
            <a:r>
              <a:rPr lang="en-US" sz="2000" b="1" dirty="0">
                <a:latin typeface="Times New Roman" panose="02020603050405020304" pitchFamily="18" charset="0"/>
                <a:cs typeface="Times New Roman" panose="02020603050405020304" pitchFamily="18" charset="0"/>
              </a:rPr>
              <a:t>RI</a:t>
            </a:r>
            <a:r>
              <a:rPr lang="en-US" sz="20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602" y="2724084"/>
            <a:ext cx="4991797" cy="1505160"/>
          </a:xfrm>
          <a:prstGeom prst="rect">
            <a:avLst/>
          </a:prstGeom>
        </p:spPr>
      </p:pic>
    </p:spTree>
    <p:extLst>
      <p:ext uri="{BB962C8B-B14F-4D97-AF65-F5344CB8AC3E}">
        <p14:creationId xmlns:p14="http://schemas.microsoft.com/office/powerpoint/2010/main" val="3886489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SPIRAL DUCT</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3308" y="4249131"/>
            <a:ext cx="4575478" cy="1893171"/>
          </a:xfrm>
          <a:prstGeom prst="rect">
            <a:avLst/>
          </a:prstGeom>
        </p:spPr>
      </p:pic>
      <p:sp>
        <p:nvSpPr>
          <p:cNvPr id="12" name="TextBox 11"/>
          <p:cNvSpPr txBox="1"/>
          <p:nvPr/>
        </p:nvSpPr>
        <p:spPr>
          <a:xfrm>
            <a:off x="188490" y="2184177"/>
            <a:ext cx="10770295" cy="4031873"/>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SPIRAL DUCT :</a:t>
            </a:r>
          </a:p>
          <a:p>
            <a:pPr algn="just"/>
            <a:endParaRPr lang="en-US" sz="2800" b="1" i="1"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GIVE TOTAL LENGTH OF DUCT IN VJR SHEET AS PER DIAMETER.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SIZE IS GIVEN IN MM OR M, CONVERT IT INTO INCHES OR FEET FIRST, AND THEN ADD THE LENGTH.</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6272" y="4506371"/>
            <a:ext cx="3820058" cy="1381318"/>
          </a:xfrm>
          <a:prstGeom prst="rect">
            <a:avLst/>
          </a:prstGeom>
        </p:spPr>
      </p:pic>
    </p:spTree>
    <p:extLst>
      <p:ext uri="{BB962C8B-B14F-4D97-AF65-F5344CB8AC3E}">
        <p14:creationId xmlns:p14="http://schemas.microsoft.com/office/powerpoint/2010/main" val="1166269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3" name="Rectangle 2"/>
          <p:cNvSpPr/>
          <p:nvPr/>
        </p:nvSpPr>
        <p:spPr>
          <a:xfrm>
            <a:off x="368301" y="2571381"/>
            <a:ext cx="5924712" cy="2246769"/>
          </a:xfrm>
          <a:prstGeom prst="rect">
            <a:avLst/>
          </a:prstGeom>
        </p:spPr>
        <p:txBody>
          <a:bodyPr wrap="square">
            <a:spAutoFit/>
          </a:bodyPr>
          <a:lstStyle/>
          <a:p>
            <a:pPr algn="just"/>
            <a:r>
              <a:rPr lang="en-US" sz="2000" b="1" dirty="0">
                <a:solidFill>
                  <a:srgbClr val="0070C0"/>
                </a:solidFill>
                <a:latin typeface="Times New Roman" panose="02020603050405020304" pitchFamily="18" charset="0"/>
                <a:cs typeface="Times New Roman" panose="02020603050405020304" pitchFamily="18" charset="0"/>
              </a:rPr>
              <a:t>HOW TO ADD RISER-SPIRAL DUCT DETAILS IN THE VJR SHEET?</a:t>
            </a:r>
          </a:p>
          <a:p>
            <a:pPr algn="just"/>
            <a:r>
              <a:rPr lang="en-US" sz="2000" dirty="0">
                <a:latin typeface="Times New Roman" panose="02020603050405020304" pitchFamily="18" charset="0"/>
                <a:cs typeface="Times New Roman" panose="02020603050405020304" pitchFamily="18" charset="0"/>
              </a:rPr>
              <a:t>ADD DROP (FEET) OF RISER IN      THE SPIRAL DUCT COLUMN FOR THE GIVEN DUCT SIZE IN THE VJR EXCEL.</a:t>
            </a:r>
            <a:endParaRPr lang="en-US" sz="2000" dirty="0">
              <a:solidFill>
                <a:srgbClr val="0070C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RISER SIZE IN FEET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[EG. 55.54+45(3 COUNTS OF 15 FEET)]</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292" y="2571381"/>
            <a:ext cx="2029610" cy="3322074"/>
          </a:xfrm>
          <a:prstGeom prst="rect">
            <a:avLst/>
          </a:prstGeom>
        </p:spPr>
      </p:pic>
      <p:pic>
        <p:nvPicPr>
          <p:cNvPr id="14"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57673" y="2522654"/>
            <a:ext cx="2177099" cy="1709764"/>
          </a:xfrm>
          <a:prstGeom prst="rect">
            <a:avLst/>
          </a:prstGeom>
        </p:spPr>
      </p:pic>
      <p:graphicFrame>
        <p:nvGraphicFramePr>
          <p:cNvPr id="18" name="Table 17"/>
          <p:cNvGraphicFramePr>
            <a:graphicFrameLocks noGrp="1"/>
          </p:cNvGraphicFramePr>
          <p:nvPr>
            <p:extLst>
              <p:ext uri="{D42A27DB-BD31-4B8C-83A1-F6EECF244321}">
                <p14:modId xmlns:p14="http://schemas.microsoft.com/office/powerpoint/2010/main" val="1640662571"/>
              </p:ext>
            </p:extLst>
          </p:nvPr>
        </p:nvGraphicFramePr>
        <p:xfrm>
          <a:off x="8857672" y="4518451"/>
          <a:ext cx="3048001" cy="1666711"/>
        </p:xfrm>
        <a:graphic>
          <a:graphicData uri="http://schemas.openxmlformats.org/drawingml/2006/table">
            <a:tbl>
              <a:tblPr>
                <a:tableStyleId>{5C22544A-7EE6-4342-B048-85BDC9FD1C3A}</a:tableStyleId>
              </a:tblPr>
              <a:tblGrid>
                <a:gridCol w="861625">
                  <a:extLst>
                    <a:ext uri="{9D8B030D-6E8A-4147-A177-3AD203B41FA5}">
                      <a16:colId xmlns:a16="http://schemas.microsoft.com/office/drawing/2014/main" val="1942981883"/>
                    </a:ext>
                  </a:extLst>
                </a:gridCol>
                <a:gridCol w="654953">
                  <a:extLst>
                    <a:ext uri="{9D8B030D-6E8A-4147-A177-3AD203B41FA5}">
                      <a16:colId xmlns:a16="http://schemas.microsoft.com/office/drawing/2014/main" val="759915228"/>
                    </a:ext>
                  </a:extLst>
                </a:gridCol>
                <a:gridCol w="605449">
                  <a:extLst>
                    <a:ext uri="{9D8B030D-6E8A-4147-A177-3AD203B41FA5}">
                      <a16:colId xmlns:a16="http://schemas.microsoft.com/office/drawing/2014/main" val="176903503"/>
                    </a:ext>
                  </a:extLst>
                </a:gridCol>
                <a:gridCol w="675190">
                  <a:extLst>
                    <a:ext uri="{9D8B030D-6E8A-4147-A177-3AD203B41FA5}">
                      <a16:colId xmlns:a16="http://schemas.microsoft.com/office/drawing/2014/main" val="632746481"/>
                    </a:ext>
                  </a:extLst>
                </a:gridCol>
                <a:gridCol w="250784">
                  <a:extLst>
                    <a:ext uri="{9D8B030D-6E8A-4147-A177-3AD203B41FA5}">
                      <a16:colId xmlns:a16="http://schemas.microsoft.com/office/drawing/2014/main" val="1313465924"/>
                    </a:ext>
                  </a:extLst>
                </a:gridCol>
              </a:tblGrid>
              <a:tr h="337250">
                <a:tc>
                  <a:txBody>
                    <a:bodyPr/>
                    <a:lstStyle/>
                    <a:p>
                      <a:pPr algn="l" fontAlgn="b"/>
                      <a:r>
                        <a:rPr lang="en-US" sz="1100" u="none" strike="noStrike" dirty="0">
                          <a:effectLst/>
                        </a:rPr>
                        <a:t>UNITS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Label</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DUCT SIZE</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REMARK</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Total</a:t>
                      </a:r>
                      <a:endParaRPr lang="en-US"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56090025"/>
                  </a:ext>
                </a:extLst>
              </a:tr>
              <a:tr h="337250">
                <a:tc>
                  <a:txBody>
                    <a:bodyPr/>
                    <a:lstStyle/>
                    <a:p>
                      <a:pPr algn="l" fontAlgn="b"/>
                      <a:r>
                        <a:rPr lang="en-US" sz="1100" u="none" strike="noStrike" dirty="0">
                          <a:effectLst/>
                        </a:rPr>
                        <a:t>ECH-02</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RISERS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300X200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66609959"/>
                  </a:ext>
                </a:extLst>
              </a:tr>
              <a:tr h="317711">
                <a:tc>
                  <a:txBody>
                    <a:bodyPr/>
                    <a:lstStyle/>
                    <a:p>
                      <a:pPr algn="l" fontAlgn="b"/>
                      <a:r>
                        <a:rPr lang="en-US" sz="1100" u="none" strike="noStrike" dirty="0">
                          <a:effectLst/>
                        </a:rPr>
                        <a:t>ECH-02</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RISERS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400X200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GR TO 1ST FLR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3251370"/>
                  </a:ext>
                </a:extLst>
              </a:tr>
              <a:tr h="337250">
                <a:tc>
                  <a:txBody>
                    <a:bodyPr/>
                    <a:lstStyle/>
                    <a:p>
                      <a:pPr algn="l" fontAlgn="b"/>
                      <a:r>
                        <a:rPr lang="en-US" sz="1100" u="none" strike="noStrike">
                          <a:effectLst/>
                        </a:rPr>
                        <a:t>TRANSFER DUCT</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RISERS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51684634"/>
                  </a:ext>
                </a:extLst>
              </a:tr>
              <a:tr h="337250">
                <a:tc>
                  <a:txBody>
                    <a:bodyPr/>
                    <a:lstStyle/>
                    <a:p>
                      <a:pPr algn="l" fontAlgn="b"/>
                      <a:r>
                        <a:rPr lang="en-US" sz="1100" u="none" strike="noStrike">
                          <a:effectLst/>
                        </a:rPr>
                        <a:t>VE-1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RISERS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600X500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1852252"/>
                  </a:ext>
                </a:extLst>
              </a:tr>
            </a:tbl>
          </a:graphicData>
        </a:graphic>
      </p:graphicFrame>
    </p:spTree>
    <p:extLst>
      <p:ext uri="{BB962C8B-B14F-4D97-AF65-F5344CB8AC3E}">
        <p14:creationId xmlns:p14="http://schemas.microsoft.com/office/powerpoint/2010/main" val="1440117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0164" y="2709762"/>
            <a:ext cx="2943636" cy="1438476"/>
          </a:xfrm>
          <a:prstGeom prst="rect">
            <a:avLst/>
          </a:prstGeom>
        </p:spPr>
      </p:pic>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1353" y="4855374"/>
            <a:ext cx="3073606" cy="1553993"/>
          </a:xfrm>
          <a:prstGeom prst="rect">
            <a:avLst/>
          </a:prstGeom>
        </p:spPr>
      </p:pic>
      <p:sp>
        <p:nvSpPr>
          <p:cNvPr id="22" name="TextBox 21"/>
          <p:cNvSpPr txBox="1"/>
          <p:nvPr/>
        </p:nvSpPr>
        <p:spPr>
          <a:xfrm>
            <a:off x="415636" y="2798618"/>
            <a:ext cx="6733309" cy="1723549"/>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45° AND 90°: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 THE COUNT OF EACH ELBOW IN THE VJR EXCEL SHEET.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66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C7DD29E-C9AB-4E3D-7986-FFD9B4F95F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52D1ED-224A-11F5-2977-26C0BD0C70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5A8170D-3D82-8CB8-1795-C3B36ED0B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4625ADE0-354C-A0EB-E476-C4E2356DCA41}"/>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472DCC9C-0697-EBE9-FA2D-88619F318366}"/>
              </a:ext>
            </a:extLst>
          </p:cNvPr>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22" name="TextBox 21">
            <a:extLst>
              <a:ext uri="{FF2B5EF4-FFF2-40B4-BE49-F238E27FC236}">
                <a16:creationId xmlns:a16="http://schemas.microsoft.com/office/drawing/2014/main" id="{C70F90EF-3196-44FB-62D7-164E1D550645}"/>
              </a:ext>
            </a:extLst>
          </p:cNvPr>
          <p:cNvSpPr txBox="1"/>
          <p:nvPr/>
        </p:nvSpPr>
        <p:spPr>
          <a:xfrm>
            <a:off x="366541" y="2294596"/>
            <a:ext cx="11692493" cy="2215991"/>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PLENUM</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PLENUMIN CEILING IS RECTANGULAR DUCT ADDED VERTICALLY CORRESPONDING TO GRD NECK SIZE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CONSIDERED AS 1 FEET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PLENUM IS GENERALLY ADDED IN CASES WHERE HORIZONTAL SPIRAL DUCTS ARE TO BE DIRECTLY CONNECTED WITH RECTANGULAR GRD WITHOUT ANY FLEX DUCT</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3283855-EDE9-E6D3-5702-40F16D34F22C}"/>
              </a:ext>
            </a:extLst>
          </p:cNvPr>
          <p:cNvPicPr>
            <a:picLocks noChangeAspect="1"/>
          </p:cNvPicPr>
          <p:nvPr/>
        </p:nvPicPr>
        <p:blipFill>
          <a:blip r:embed="rId2"/>
          <a:stretch>
            <a:fillRect/>
          </a:stretch>
        </p:blipFill>
        <p:spPr>
          <a:xfrm>
            <a:off x="3768064" y="4242944"/>
            <a:ext cx="5142733" cy="2422733"/>
          </a:xfrm>
          <a:prstGeom prst="rect">
            <a:avLst/>
          </a:prstGeom>
        </p:spPr>
      </p:pic>
    </p:spTree>
    <p:extLst>
      <p:ext uri="{BB962C8B-B14F-4D97-AF65-F5344CB8AC3E}">
        <p14:creationId xmlns:p14="http://schemas.microsoft.com/office/powerpoint/2010/main" val="1557207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BB8A3AB-530D-4E36-1CF6-134C54BBA52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F9B081-3A46-1B7A-716E-11C2BD6A1B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CCFCA23-FE1B-FDDB-7FE3-071B650B80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A096AC17-649D-C3AF-AF5D-88FB7C9E212B}"/>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3D5304A9-39A8-1744-0FAD-C525DDB568C6}"/>
              </a:ext>
            </a:extLst>
          </p:cNvPr>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5" name="TextBox 4">
            <a:extLst>
              <a:ext uri="{FF2B5EF4-FFF2-40B4-BE49-F238E27FC236}">
                <a16:creationId xmlns:a16="http://schemas.microsoft.com/office/drawing/2014/main" id="{34D3E815-7FD4-516C-5BDC-82B17FEC4277}"/>
              </a:ext>
            </a:extLst>
          </p:cNvPr>
          <p:cNvSpPr txBox="1"/>
          <p:nvPr/>
        </p:nvSpPr>
        <p:spPr>
          <a:xfrm>
            <a:off x="464731" y="2496360"/>
            <a:ext cx="11232225" cy="1415772"/>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BALANCING DAMPER: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 THE COUNT OF BALANCING DAMPER FOR SPIRAL DUCT IN THE VJR EXCEL SHEET.</a:t>
            </a:r>
          </a:p>
          <a:p>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5B2E89E-BCC8-5357-BEEF-77A23C8AB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9770" y="3891044"/>
            <a:ext cx="5987288" cy="290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574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588" y="4843789"/>
            <a:ext cx="4734586" cy="187668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602" y="4405578"/>
            <a:ext cx="2829320" cy="2314898"/>
          </a:xfrm>
          <a:prstGeom prst="rect">
            <a:avLst/>
          </a:prstGeom>
        </p:spPr>
      </p:pic>
      <p:sp>
        <p:nvSpPr>
          <p:cNvPr id="6" name="TextBox 5"/>
          <p:cNvSpPr txBox="1"/>
          <p:nvPr/>
        </p:nvSpPr>
        <p:spPr>
          <a:xfrm>
            <a:off x="0" y="2086858"/>
            <a:ext cx="11954163" cy="301621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PROVIDE THE TOTAL QUANTITY OF FLEX DUCTS.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FLEX DUCT IS 5 FEET LONG.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 GIVEN DUCT SIZE, NOTE THE TOTAL NUMBER OF FLEX DUCTS AND MULTIPLY IT BY 5 TO GET THE TOTAL FLEX DUCT LENGTH, AND ADD IT AS SHOWN IN THE IMAGE.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EXAMPLE:</a:t>
            </a:r>
          </a:p>
          <a:p>
            <a:pPr algn="just"/>
            <a:r>
              <a:rPr lang="pt-BR" dirty="0">
                <a:latin typeface="Times New Roman" panose="02020603050405020304" pitchFamily="18" charset="0"/>
                <a:cs typeface="Times New Roman" panose="02020603050405020304" pitchFamily="18" charset="0"/>
              </a:rPr>
              <a:t>FOR 10” DIAMETER, TOTAL QUANTITY = 14</a:t>
            </a:r>
          </a:p>
          <a:p>
            <a:pPr algn="just"/>
            <a:r>
              <a:rPr lang="en-US" dirty="0">
                <a:latin typeface="Times New Roman" panose="02020603050405020304" pitchFamily="18" charset="0"/>
                <a:cs typeface="Times New Roman" panose="02020603050405020304" pitchFamily="18" charset="0"/>
              </a:rPr>
              <a:t>14 × 5 = 70</a:t>
            </a:r>
          </a:p>
          <a:p>
            <a:r>
              <a:rPr lang="en-US" dirty="0"/>
              <a:t>                                           </a:t>
            </a:r>
          </a:p>
        </p:txBody>
      </p:sp>
    </p:spTree>
    <p:extLst>
      <p:ext uri="{BB962C8B-B14F-4D97-AF65-F5344CB8AC3E}">
        <p14:creationId xmlns:p14="http://schemas.microsoft.com/office/powerpoint/2010/main" val="3049950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BF7317B-3B29-C47B-86E2-7FF902E867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1BC78B-65DB-1401-9D4B-4F506A2BD0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00E174-5786-B431-076E-92C201027E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43C70F3F-3CA3-3E40-C90E-DF26482032A0}"/>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D255177-0C22-5E95-B4DB-A2F6A741DCAF}"/>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pic>
        <p:nvPicPr>
          <p:cNvPr id="3" name="Picture 2">
            <a:extLst>
              <a:ext uri="{FF2B5EF4-FFF2-40B4-BE49-F238E27FC236}">
                <a16:creationId xmlns:a16="http://schemas.microsoft.com/office/drawing/2014/main" id="{FAF6D6BC-685F-667E-B95B-ED7911C72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588" y="4843789"/>
            <a:ext cx="4734586" cy="1876687"/>
          </a:xfrm>
          <a:prstGeom prst="rect">
            <a:avLst/>
          </a:prstGeom>
        </p:spPr>
      </p:pic>
      <p:pic>
        <p:nvPicPr>
          <p:cNvPr id="5" name="Picture 4">
            <a:extLst>
              <a:ext uri="{FF2B5EF4-FFF2-40B4-BE49-F238E27FC236}">
                <a16:creationId xmlns:a16="http://schemas.microsoft.com/office/drawing/2014/main" id="{0BE544EF-102F-70D6-4D7D-2513B3DA4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602" y="4405578"/>
            <a:ext cx="2829320" cy="2314898"/>
          </a:xfrm>
          <a:prstGeom prst="rect">
            <a:avLst/>
          </a:prstGeom>
        </p:spPr>
      </p:pic>
      <p:sp>
        <p:nvSpPr>
          <p:cNvPr id="6" name="TextBox 5">
            <a:extLst>
              <a:ext uri="{FF2B5EF4-FFF2-40B4-BE49-F238E27FC236}">
                <a16:creationId xmlns:a16="http://schemas.microsoft.com/office/drawing/2014/main" id="{E36660FF-DE81-822A-B87B-02B1B8F17D1D}"/>
              </a:ext>
            </a:extLst>
          </p:cNvPr>
          <p:cNvSpPr txBox="1"/>
          <p:nvPr/>
        </p:nvSpPr>
        <p:spPr>
          <a:xfrm>
            <a:off x="0" y="2086858"/>
            <a:ext cx="11954163" cy="301621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PROVIDE THE TOTAL QUANTITY OF FLEX DUCTS.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FLEX DUCT IS 5 FEET LONG.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 GIVEN DUCT SIZE, NOTE THE TOTAL NUMBER OF FLEX DUCTS AND MULTIPLY IT BY 5 TO GET THE TOTAL FLEX DUCT LENGTH, AND ADD IT AS SHOWN IN THE IMAGE.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EXAMPLE:</a:t>
            </a:r>
          </a:p>
          <a:p>
            <a:pPr algn="just"/>
            <a:r>
              <a:rPr lang="pt-BR" dirty="0">
                <a:latin typeface="Times New Roman" panose="02020603050405020304" pitchFamily="18" charset="0"/>
                <a:cs typeface="Times New Roman" panose="02020603050405020304" pitchFamily="18" charset="0"/>
              </a:rPr>
              <a:t>FOR 10” DIAMETER, TOTAL QUANTITY = 14</a:t>
            </a:r>
          </a:p>
          <a:p>
            <a:pPr algn="just"/>
            <a:r>
              <a:rPr lang="en-US" dirty="0">
                <a:latin typeface="Times New Roman" panose="02020603050405020304" pitchFamily="18" charset="0"/>
                <a:cs typeface="Times New Roman" panose="02020603050405020304" pitchFamily="18" charset="0"/>
              </a:rPr>
              <a:t>14 × 5 = 70</a:t>
            </a:r>
          </a:p>
          <a:p>
            <a:r>
              <a:rPr lang="en-US" dirty="0"/>
              <a:t>                                           </a:t>
            </a:r>
          </a:p>
        </p:txBody>
      </p:sp>
    </p:spTree>
    <p:extLst>
      <p:ext uri="{BB962C8B-B14F-4D97-AF65-F5344CB8AC3E}">
        <p14:creationId xmlns:p14="http://schemas.microsoft.com/office/powerpoint/2010/main" val="20804729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F8619B4-4748-41A9-3702-A917721AD6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EBB966-6C74-B080-9B7C-D770ED834E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1C582B6-B561-3B53-999C-01C742918F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34B34804-0A81-B26E-87ED-06F9E3A9FC59}"/>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426AEA2-A46F-AE30-EEA6-0B8F997BFA62}"/>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sp>
        <p:nvSpPr>
          <p:cNvPr id="6" name="TextBox 5">
            <a:extLst>
              <a:ext uri="{FF2B5EF4-FFF2-40B4-BE49-F238E27FC236}">
                <a16:creationId xmlns:a16="http://schemas.microsoft.com/office/drawing/2014/main" id="{CFB41280-8CFE-B85E-96D9-446EC88FCE49}"/>
              </a:ext>
            </a:extLst>
          </p:cNvPr>
          <p:cNvSpPr txBox="1"/>
          <p:nvPr/>
        </p:nvSpPr>
        <p:spPr>
          <a:xfrm>
            <a:off x="0" y="2086858"/>
            <a:ext cx="11954163" cy="2339102"/>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 CONNECTED TO EQUIMENT:</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ASK VJR ABOUT THE TYPE OF FLEX DUCT TO BE CONNECTED TO EQUIPMENT OTHER THAN GRD.</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THE ILLUSTRATED EQUIPMENT VJR ADVISED TO ADD FLEX DUCT ‘TRIPLE LOCK T/L-T R4.2’</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4" name="Picture 3">
            <a:extLst>
              <a:ext uri="{FF2B5EF4-FFF2-40B4-BE49-F238E27FC236}">
                <a16:creationId xmlns:a16="http://schemas.microsoft.com/office/drawing/2014/main" id="{2F822D73-D719-E5DB-2CB3-3C6FD358D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40" y="3777545"/>
            <a:ext cx="4403732" cy="29581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8F16F3E-E0E6-98FE-5EBE-A04AE3A01ACA}"/>
              </a:ext>
            </a:extLst>
          </p:cNvPr>
          <p:cNvPicPr>
            <a:picLocks noChangeAspect="1"/>
          </p:cNvPicPr>
          <p:nvPr/>
        </p:nvPicPr>
        <p:blipFill>
          <a:blip r:embed="rId3"/>
          <a:stretch>
            <a:fillRect/>
          </a:stretch>
        </p:blipFill>
        <p:spPr>
          <a:xfrm>
            <a:off x="6331368" y="3973642"/>
            <a:ext cx="2933859" cy="2762056"/>
          </a:xfrm>
          <a:prstGeom prst="rect">
            <a:avLst/>
          </a:prstGeom>
        </p:spPr>
      </p:pic>
    </p:spTree>
    <p:extLst>
      <p:ext uri="{BB962C8B-B14F-4D97-AF65-F5344CB8AC3E}">
        <p14:creationId xmlns:p14="http://schemas.microsoft.com/office/powerpoint/2010/main" val="4234244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6FAE3B3-77A4-5FE9-7780-9F83D215DB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0447F7-E416-595B-210B-B11E8156029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563CC17-8E01-AC91-E778-D5E6E3E7B2E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1C20631F-75A3-4059-829E-386988145A6F}"/>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42B0BBBA-BDF6-CEE5-C054-3567D0C84B61}"/>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sp>
        <p:nvSpPr>
          <p:cNvPr id="6" name="TextBox 5">
            <a:extLst>
              <a:ext uri="{FF2B5EF4-FFF2-40B4-BE49-F238E27FC236}">
                <a16:creationId xmlns:a16="http://schemas.microsoft.com/office/drawing/2014/main" id="{97BA7229-4EBF-73F4-FA75-66045D66BB94}"/>
              </a:ext>
            </a:extLst>
          </p:cNvPr>
          <p:cNvSpPr txBox="1"/>
          <p:nvPr/>
        </p:nvSpPr>
        <p:spPr>
          <a:xfrm>
            <a:off x="0" y="2086858"/>
            <a:ext cx="11954163" cy="289310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ACOUSTIC INSULATION:</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WEACOUSTIC INSULATION DATA IS EITHER PROVIDED FROM VJR BY ADDITIONAL NOTES OR BY DRAWING KEYNOTES AND LEGENDS</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ACOUSTIC INSULAION CAN ONLY BE APPLIED TO RECTANGULAR DUCTS AND PLENUM.</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5" name="Picture 4">
            <a:extLst>
              <a:ext uri="{FF2B5EF4-FFF2-40B4-BE49-F238E27FC236}">
                <a16:creationId xmlns:a16="http://schemas.microsoft.com/office/drawing/2014/main" id="{1B433C3D-F75A-B774-D7F7-9B739B24D35F}"/>
              </a:ext>
            </a:extLst>
          </p:cNvPr>
          <p:cNvPicPr>
            <a:picLocks noChangeAspect="1"/>
          </p:cNvPicPr>
          <p:nvPr/>
        </p:nvPicPr>
        <p:blipFill>
          <a:blip r:embed="rId2"/>
          <a:stretch>
            <a:fillRect/>
          </a:stretch>
        </p:blipFill>
        <p:spPr>
          <a:xfrm>
            <a:off x="7050708" y="4434272"/>
            <a:ext cx="4615564" cy="2174385"/>
          </a:xfrm>
          <a:prstGeom prst="rect">
            <a:avLst/>
          </a:prstGeom>
        </p:spPr>
      </p:pic>
      <p:pic>
        <p:nvPicPr>
          <p:cNvPr id="12" name="Picture 11">
            <a:extLst>
              <a:ext uri="{FF2B5EF4-FFF2-40B4-BE49-F238E27FC236}">
                <a16:creationId xmlns:a16="http://schemas.microsoft.com/office/drawing/2014/main" id="{595E99A6-E2E8-DB73-4C13-57DD7DF9F62C}"/>
              </a:ext>
            </a:extLst>
          </p:cNvPr>
          <p:cNvPicPr>
            <a:picLocks noChangeAspect="1"/>
          </p:cNvPicPr>
          <p:nvPr/>
        </p:nvPicPr>
        <p:blipFill>
          <a:blip r:embed="rId3"/>
          <a:stretch>
            <a:fillRect/>
          </a:stretch>
        </p:blipFill>
        <p:spPr>
          <a:xfrm>
            <a:off x="912340" y="4403206"/>
            <a:ext cx="5003644" cy="2283176"/>
          </a:xfrm>
          <a:prstGeom prst="rect">
            <a:avLst/>
          </a:prstGeom>
        </p:spPr>
      </p:pic>
    </p:spTree>
    <p:extLst>
      <p:ext uri="{BB962C8B-B14F-4D97-AF65-F5344CB8AC3E}">
        <p14:creationId xmlns:p14="http://schemas.microsoft.com/office/powerpoint/2010/main" val="1724352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71E04D4-BA28-2EF6-1DDA-C7F60D8C0D1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641C97-F25B-7873-7A96-F87CFCAA02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59FF302-1399-6543-2BE5-9355E24DAF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BF405A83-3504-C08E-F473-42C8DFCB4E7A}"/>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D79FEAC-8CD7-5F43-D56F-F8E8B69789BA}"/>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DEMOLITION</a:t>
            </a:r>
          </a:p>
        </p:txBody>
      </p:sp>
      <p:sp>
        <p:nvSpPr>
          <p:cNvPr id="6" name="TextBox 5">
            <a:extLst>
              <a:ext uri="{FF2B5EF4-FFF2-40B4-BE49-F238E27FC236}">
                <a16:creationId xmlns:a16="http://schemas.microsoft.com/office/drawing/2014/main" id="{89382D20-19FA-F31B-F2D2-6DD52ED1C0D6}"/>
              </a:ext>
            </a:extLst>
          </p:cNvPr>
          <p:cNvSpPr txBox="1"/>
          <p:nvPr/>
        </p:nvSpPr>
        <p:spPr>
          <a:xfrm>
            <a:off x="0" y="2086858"/>
            <a:ext cx="11954163" cy="2339102"/>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DEMOLITION:</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DEMO DUCT AND DEMO RISER FROM TOOLBOX FOR DEMOLISHED DUCTS TAGGING.</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DON’T ADD DUCT SIZE AND ADD THE TOTAL LENGTH IN VJR EXCEL AS SHOWN</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5" name="Picture 4">
            <a:extLst>
              <a:ext uri="{FF2B5EF4-FFF2-40B4-BE49-F238E27FC236}">
                <a16:creationId xmlns:a16="http://schemas.microsoft.com/office/drawing/2014/main" id="{130F49C9-84B3-768C-34F8-CCA545E36000}"/>
              </a:ext>
            </a:extLst>
          </p:cNvPr>
          <p:cNvPicPr>
            <a:picLocks noChangeAspect="1"/>
          </p:cNvPicPr>
          <p:nvPr/>
        </p:nvPicPr>
        <p:blipFill>
          <a:blip r:embed="rId2"/>
          <a:stretch>
            <a:fillRect/>
          </a:stretch>
        </p:blipFill>
        <p:spPr>
          <a:xfrm>
            <a:off x="6576292" y="4080090"/>
            <a:ext cx="4730145" cy="2544789"/>
          </a:xfrm>
          <a:prstGeom prst="rect">
            <a:avLst/>
          </a:prstGeom>
        </p:spPr>
      </p:pic>
      <p:pic>
        <p:nvPicPr>
          <p:cNvPr id="12" name="Picture 11">
            <a:extLst>
              <a:ext uri="{FF2B5EF4-FFF2-40B4-BE49-F238E27FC236}">
                <a16:creationId xmlns:a16="http://schemas.microsoft.com/office/drawing/2014/main" id="{774B9792-02BD-5F8C-41D7-4599DD10EAEE}"/>
              </a:ext>
            </a:extLst>
          </p:cNvPr>
          <p:cNvPicPr>
            <a:picLocks noChangeAspect="1"/>
          </p:cNvPicPr>
          <p:nvPr/>
        </p:nvPicPr>
        <p:blipFill>
          <a:blip r:embed="rId3"/>
          <a:stretch>
            <a:fillRect/>
          </a:stretch>
        </p:blipFill>
        <p:spPr>
          <a:xfrm>
            <a:off x="1385885" y="4080090"/>
            <a:ext cx="2382179" cy="2528070"/>
          </a:xfrm>
          <a:prstGeom prst="rect">
            <a:avLst/>
          </a:prstGeom>
        </p:spPr>
      </p:pic>
    </p:spTree>
    <p:extLst>
      <p:ext uri="{BB962C8B-B14F-4D97-AF65-F5344CB8AC3E}">
        <p14:creationId xmlns:p14="http://schemas.microsoft.com/office/powerpoint/2010/main" val="3836245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4491BFF-7B15-C83E-B69D-BC83211A16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D0AEB99-8BC4-AAF3-0C6C-096EEB6733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144E76-E091-3221-CE02-14CEEB78AD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C7ED1982-B25D-1A53-0696-49F9CB15B4ED}"/>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5A4A4EEC-3B9F-F3B5-9B1C-D6D9D342809A}"/>
              </a:ext>
            </a:extLst>
          </p:cNvPr>
          <p:cNvSpPr>
            <a:spLocks noGrp="1"/>
          </p:cNvSpPr>
          <p:nvPr>
            <p:ph type="title"/>
          </p:nvPr>
        </p:nvSpPr>
        <p:spPr/>
        <p:txBody>
          <a:bodyPr>
            <a:noAutofit/>
          </a:bodyPr>
          <a:lstStyle/>
          <a:p>
            <a:pPr algn="ctr"/>
            <a:r>
              <a:rPr lang="en-US" sz="4000" b="1" i="1" dirty="0">
                <a:solidFill>
                  <a:schemeClr val="bg1"/>
                </a:solidFill>
                <a:latin typeface="Times New Roman" panose="02020603050405020304" pitchFamily="18" charset="0"/>
                <a:cs typeface="Times New Roman" panose="02020603050405020304" pitchFamily="18" charset="0"/>
              </a:rPr>
              <a:t>LEGENDS</a:t>
            </a:r>
          </a:p>
        </p:txBody>
      </p:sp>
      <p:sp>
        <p:nvSpPr>
          <p:cNvPr id="6" name="TextBox 5">
            <a:extLst>
              <a:ext uri="{FF2B5EF4-FFF2-40B4-BE49-F238E27FC236}">
                <a16:creationId xmlns:a16="http://schemas.microsoft.com/office/drawing/2014/main" id="{D69737B4-286F-8F09-477E-9B4303697430}"/>
              </a:ext>
            </a:extLst>
          </p:cNvPr>
          <p:cNvSpPr txBox="1"/>
          <p:nvPr/>
        </p:nvSpPr>
        <p:spPr>
          <a:xfrm>
            <a:off x="-3048" y="5314910"/>
            <a:ext cx="12074605" cy="1908215"/>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THERE ARE MULTIPLE UNITS IN DUCTING TAKEOFF, THEN TAKE UNITS AS THE </a:t>
            </a:r>
            <a:r>
              <a:rPr lang="en-US" b="1" dirty="0">
                <a:latin typeface="Times New Roman" panose="02020603050405020304" pitchFamily="18" charset="0"/>
                <a:cs typeface="Times New Roman" panose="02020603050405020304" pitchFamily="18" charset="0"/>
              </a:rPr>
              <a:t>1</a:t>
            </a:r>
            <a:r>
              <a:rPr lang="en-US" b="1"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COLUMN IN LEGENDS</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4" name="Picture 3">
            <a:extLst>
              <a:ext uri="{FF2B5EF4-FFF2-40B4-BE49-F238E27FC236}">
                <a16:creationId xmlns:a16="http://schemas.microsoft.com/office/drawing/2014/main" id="{5FF1DC3B-4112-B65B-C931-ECF250D7DDD4}"/>
              </a:ext>
            </a:extLst>
          </p:cNvPr>
          <p:cNvPicPr>
            <a:picLocks noChangeAspect="1"/>
          </p:cNvPicPr>
          <p:nvPr/>
        </p:nvPicPr>
        <p:blipFill>
          <a:blip r:embed="rId2"/>
          <a:stretch>
            <a:fillRect/>
          </a:stretch>
        </p:blipFill>
        <p:spPr>
          <a:xfrm>
            <a:off x="769216" y="2155090"/>
            <a:ext cx="3911047" cy="2339102"/>
          </a:xfrm>
          <a:prstGeom prst="rect">
            <a:avLst/>
          </a:prstGeom>
        </p:spPr>
      </p:pic>
      <p:pic>
        <p:nvPicPr>
          <p:cNvPr id="11" name="Picture 10">
            <a:extLst>
              <a:ext uri="{FF2B5EF4-FFF2-40B4-BE49-F238E27FC236}">
                <a16:creationId xmlns:a16="http://schemas.microsoft.com/office/drawing/2014/main" id="{1FEFF185-8C7D-8A31-9408-8E20CCF11538}"/>
              </a:ext>
            </a:extLst>
          </p:cNvPr>
          <p:cNvPicPr>
            <a:picLocks noChangeAspect="1"/>
          </p:cNvPicPr>
          <p:nvPr/>
        </p:nvPicPr>
        <p:blipFill>
          <a:blip r:embed="rId3"/>
          <a:stretch>
            <a:fillRect/>
          </a:stretch>
        </p:blipFill>
        <p:spPr>
          <a:xfrm>
            <a:off x="7572141" y="2261496"/>
            <a:ext cx="1771901" cy="2131017"/>
          </a:xfrm>
          <a:prstGeom prst="rect">
            <a:avLst/>
          </a:prstGeom>
        </p:spPr>
      </p:pic>
      <p:sp>
        <p:nvSpPr>
          <p:cNvPr id="13" name="TextBox 12">
            <a:extLst>
              <a:ext uri="{FF2B5EF4-FFF2-40B4-BE49-F238E27FC236}">
                <a16:creationId xmlns:a16="http://schemas.microsoft.com/office/drawing/2014/main" id="{D596B938-DED7-E04B-60B2-52D8D632D0B6}"/>
              </a:ext>
            </a:extLst>
          </p:cNvPr>
          <p:cNvSpPr txBox="1"/>
          <p:nvPr/>
        </p:nvSpPr>
        <p:spPr>
          <a:xfrm>
            <a:off x="1325573" y="4765119"/>
            <a:ext cx="27738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EQUIPMENT TAKEOFF</a:t>
            </a:r>
            <a:endParaRPr lang="en-US" dirty="0"/>
          </a:p>
        </p:txBody>
      </p:sp>
      <p:sp>
        <p:nvSpPr>
          <p:cNvPr id="17" name="TextBox 16">
            <a:extLst>
              <a:ext uri="{FF2B5EF4-FFF2-40B4-BE49-F238E27FC236}">
                <a16:creationId xmlns:a16="http://schemas.microsoft.com/office/drawing/2014/main" id="{91DC87BF-2C51-A4BA-513B-EE74B90EFFF8}"/>
              </a:ext>
            </a:extLst>
          </p:cNvPr>
          <p:cNvSpPr txBox="1"/>
          <p:nvPr/>
        </p:nvSpPr>
        <p:spPr>
          <a:xfrm>
            <a:off x="7396405" y="4765119"/>
            <a:ext cx="24226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DUCTING TAKEOFF</a:t>
            </a:r>
            <a:endParaRPr lang="en-US" dirty="0"/>
          </a:p>
        </p:txBody>
      </p:sp>
    </p:spTree>
    <p:extLst>
      <p:ext uri="{BB962C8B-B14F-4D97-AF65-F5344CB8AC3E}">
        <p14:creationId xmlns:p14="http://schemas.microsoft.com/office/powerpoint/2010/main" val="1665381842"/>
      </p:ext>
    </p:extLst>
  </p:cSld>
  <p:clrMapOvr>
    <a:masterClrMapping/>
  </p:clrMapOvr>
</p:sld>
</file>

<file path=ppt/theme/theme1.xml><?xml version="1.0" encoding="utf-8"?>
<a:theme xmlns:a="http://schemas.openxmlformats.org/drawingml/2006/main" name="SketchyVTI">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efe134-a85a-44c6-826b-0ca9b2fd6d14" xsi:nil="true"/>
    <lcf76f155ced4ddcb4097134ff3c332f xmlns="570da20d-c245-4265-b04f-0e6ef543728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D4BADB61D76A449E581CB089326F79" ma:contentTypeVersion="15" ma:contentTypeDescription="Create a new document." ma:contentTypeScope="" ma:versionID="ba1892ea388077ccf9b3ac301c7af9db">
  <xsd:schema xmlns:xsd="http://www.w3.org/2001/XMLSchema" xmlns:xs="http://www.w3.org/2001/XMLSchema" xmlns:p="http://schemas.microsoft.com/office/2006/metadata/properties" xmlns:ns2="570da20d-c245-4265-b04f-0e6ef5437289" xmlns:ns3="9eefe134-a85a-44c6-826b-0ca9b2fd6d14" targetNamespace="http://schemas.microsoft.com/office/2006/metadata/properties" ma:root="true" ma:fieldsID="9f3e69de3f1452b342d5a672cf8512f6" ns2:_="" ns3:_="">
    <xsd:import namespace="570da20d-c245-4265-b04f-0e6ef5437289"/>
    <xsd:import namespace="9eefe134-a85a-44c6-826b-0ca9b2fd6d1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0da20d-c245-4265-b04f-0e6ef54372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d8888d2-b207-4657-8dec-63b7ce6b1b2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efe134-a85a-44c6-826b-0ca9b2fd6d1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37769dc-bcbb-4ad4-b076-2b0ebb166202}" ma:internalName="TaxCatchAll" ma:showField="CatchAllData" ma:web="9eefe134-a85a-44c6-826b-0ca9b2fd6d14">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1B9772-BD32-47DF-AB9D-42DDCE11F259}">
  <ds:schemaRefs>
    <ds:schemaRef ds:uri="http://schemas.microsoft.com/sharepoint/v3/contenttype/forms"/>
  </ds:schemaRefs>
</ds:datastoreItem>
</file>

<file path=customXml/itemProps2.xml><?xml version="1.0" encoding="utf-8"?>
<ds:datastoreItem xmlns:ds="http://schemas.openxmlformats.org/officeDocument/2006/customXml" ds:itemID="{261ACD07-33B9-4113-B5E9-365A47D30CCF}">
  <ds:schemaRefs>
    <ds:schemaRef ds:uri="http://schemas.microsoft.com/office/2006/metadata/properties"/>
    <ds:schemaRef ds:uri="http://www.w3.org/2000/xmlns/"/>
    <ds:schemaRef ds:uri="9eefe134-a85a-44c6-826b-0ca9b2fd6d14"/>
    <ds:schemaRef ds:uri="http://www.w3.org/2001/XMLSchema-instance"/>
    <ds:schemaRef ds:uri="570da20d-c245-4265-b04f-0e6ef5437289"/>
    <ds:schemaRef ds:uri="http://schemas.microsoft.com/office/infopath/2007/PartnerControls"/>
  </ds:schemaRefs>
</ds:datastoreItem>
</file>

<file path=customXml/itemProps3.xml><?xml version="1.0" encoding="utf-8"?>
<ds:datastoreItem xmlns:ds="http://schemas.openxmlformats.org/officeDocument/2006/customXml" ds:itemID="{21FE8E83-E80F-439F-80F7-19A2BECAFE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0da20d-c245-4265-b04f-0e6ef5437289"/>
    <ds:schemaRef ds:uri="9eefe134-a85a-44c6-826b-0ca9b2fd6d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5328</TotalTime>
  <Words>1922</Words>
  <Application>Microsoft Office PowerPoint</Application>
  <PresentationFormat>Widescreen</PresentationFormat>
  <Paragraphs>359</Paragraphs>
  <Slides>41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Amasis MT Pro Medium</vt:lpstr>
      <vt:lpstr>Aptos</vt:lpstr>
      <vt:lpstr>Arial</vt:lpstr>
      <vt:lpstr>Calibri</vt:lpstr>
      <vt:lpstr>Modern Love</vt:lpstr>
      <vt:lpstr>The Hand</vt:lpstr>
      <vt:lpstr>Times New Roman</vt:lpstr>
      <vt:lpstr>SketchyVTI</vt:lpstr>
      <vt:lpstr>VENTILATION</vt:lpstr>
      <vt:lpstr>LINE CARD ITEMS FOR DUCTING</vt:lpstr>
      <vt:lpstr>TOOLCHEST SYMBOLS FOR DUCTING</vt:lpstr>
      <vt:lpstr>RECTANGULAR DUCT TAGGING</vt:lpstr>
      <vt:lpstr>QUICK NOTES</vt:lpstr>
      <vt:lpstr>QUICK NOTES</vt:lpstr>
      <vt:lpstr>T-VANE</vt:lpstr>
      <vt:lpstr>SPIRAL DUCT TAGGING</vt:lpstr>
      <vt:lpstr>ELBOWS TAGGING</vt:lpstr>
      <vt:lpstr>ELBOWS TAGGING</vt:lpstr>
      <vt:lpstr>FLEXIBLE DUCT</vt:lpstr>
      <vt:lpstr>FLEXIBLE DUCT- CANEVAS</vt:lpstr>
      <vt:lpstr>FLEXIBLE DUCT- ERV</vt:lpstr>
      <vt:lpstr>DUCT RISER</vt:lpstr>
      <vt:lpstr>DUCT RISER</vt:lpstr>
      <vt:lpstr>DAMPERS</vt:lpstr>
      <vt:lpstr>DAMPERS</vt:lpstr>
      <vt:lpstr>DAMPERS-MANUAL BALANCING DAMPER</vt:lpstr>
      <vt:lpstr>IMPORTANT DUCTING POINTS</vt:lpstr>
      <vt:lpstr>IMPORTANT DUCTING POINTS</vt:lpstr>
      <vt:lpstr>IMPORTANT DUCTING POINTS</vt:lpstr>
      <vt:lpstr>IMPORTANT DUCTING POINTS</vt:lpstr>
      <vt:lpstr>IMPORTANT DUCTING POINTS</vt:lpstr>
      <vt:lpstr>IMPORTANT DUCTING POINTS</vt:lpstr>
      <vt:lpstr>EXCEL TAKEOFF</vt:lpstr>
      <vt:lpstr>EXCEL TAKEOFF</vt:lpstr>
      <vt:lpstr>EXCEL TAKEOFF</vt:lpstr>
      <vt:lpstr>EXCEL TAKEOFF (VJR EXCEL SHEET) RECTANGULAR DUCT</vt:lpstr>
      <vt:lpstr>EXCEL TAKEOFF (VJR EXCEL SHEET)</vt:lpstr>
      <vt:lpstr>EXCEL TAKEOFF (VJR EXCEL SHEET)</vt:lpstr>
      <vt:lpstr>EXCEL TAKEOFF (VJR EXCEL SHEET) SPIRAL DUCT</vt:lpstr>
      <vt:lpstr>EXCEL TAKEOFF (VJR EXCEL SHEET)</vt:lpstr>
      <vt:lpstr>EXCEL TAKEOFF (VJR EXCEL SHEET)</vt:lpstr>
      <vt:lpstr>EXCEL TAKEOFF (VJR EXCEL SHEET)</vt:lpstr>
      <vt:lpstr>EXCEL TAKEOFF (VJR EXCEL SHEET)</vt:lpstr>
      <vt:lpstr>EXCEL TAKEOFF (VJR EXCEL SHEET) FLEX DUCT</vt:lpstr>
      <vt:lpstr>EXCEL TAKEOFF (VJR EXCEL SHEET) FLEX DUCT</vt:lpstr>
      <vt:lpstr>EXCEL TAKEOFF (VJR EXCEL SHEET) FLEX DUCT</vt:lpstr>
      <vt:lpstr>EXCEL TAKEOFF (VJR EXCEL SHEET) FLEX DUCT</vt:lpstr>
      <vt:lpstr>EXCEL TAKEOFF (VJR EXCEL SHEET) DEMOLITION</vt:lpstr>
      <vt:lpstr>LEGENDS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VENTILATION</dc:title>
  <dc:creator>Triune Takeoff</dc:creator>
  <cp:lastModifiedBy>ADMIN</cp:lastModifiedBy>
  <cp:revision>124</cp:revision>
  <dcterms:created xsi:type="dcterms:W3CDTF">2025-11-02T07:34:31Z</dcterms:created>
  <dcterms:modified xsi:type="dcterms:W3CDTF">2026-09-29T06:11:10Z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0x01010049D4BADB61D76A449E581CB089326F79</vt:lpwstr>
  </property>
  <property fmtid="{D5CDD505-2E9C-101B-9397-08002B2CF9AE}" pid="3" name="MediaServiceImageTags">
    <vt:lpwstr/>
  </property>
</Properties>
</file>